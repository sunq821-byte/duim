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F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1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752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11589-1D76-48C9-D096-AF264F877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6BA19D-A840-4A28-E3DE-CAE77261A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87A23F-AD6B-0605-7EF9-5B92EBB34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9D9BE-0A32-EE51-413B-32EDD7FD3B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867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开放实验室学生科研项目 · 答辩汇报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600" dirty="0">
                <a:solidFill>
                  <a:srgbClr val="FFFFFF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NATIVE · LLM-DRIVEN TRANSACTION MANAGEMENT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Native</a:t>
            </a:r>
            <a:endParaRPr lang="en-US" sz="48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事务管理系统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41148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>
                    <a:alpha val="8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基于大语言模型的自然语言驱动事务管理研究与实现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软件工程 · 智能AI工坊实验室 ·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3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 · 项目背景与研究意义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· PROBLEM →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传统困境 → AI Native 破局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5204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54480"/>
            <a:ext cx="3520440" cy="54864"/>
          </a:xfrm>
          <a:prstGeom prst="rect">
            <a:avLst/>
          </a:prstGeom>
          <a:solidFill>
            <a:srgbClr val="D4D4D2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783080"/>
            <a:ext cx="640080" cy="274320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旧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1755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用户适应软件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468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依赖"表单+点击"操作，操作路径复杂，学习成本较高，无法理解自然语言。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9260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点击"新增" → "支出" → 输入金额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选择分类 → 设置时间 → 保存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步操作完成一条记账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无法解析"昨天吃火锅花了230"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828800"/>
            <a:ext cx="0" cy="1828800"/>
          </a:xfrm>
          <a:prstGeom prst="line">
            <a:avLst/>
          </a:prstGeom>
          <a:noFill/>
          <a:ln w="12700">
            <a:solidFill>
              <a:srgbClr val="D4D4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554480"/>
            <a:ext cx="35204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15" name="Shape 13"/>
          <p:cNvSpPr/>
          <p:nvPr/>
        </p:nvSpPr>
        <p:spPr>
          <a:xfrm>
            <a:off x="4846320" y="1554480"/>
            <a:ext cx="3520440" cy="54864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0" y="1783080"/>
            <a:ext cx="640080" cy="27432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5120640" y="1783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</a:t>
            </a:r>
            <a:endParaRPr lang="en-US" sz="1000" dirty="0">
              <a:solidFill>
                <a:srgbClr val="002FA6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897880" y="1755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NATIVE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20640" y="2148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2F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软件理解用户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20640" y="2468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用户只需输入自然语言，系统自动完成意图识别、金额提取、时间解析、分类处理与数据存储。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20640" y="29260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"今天午饭35元，明天下午3点开会"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自动拆分为餐饮支出 + 会议日程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一句话完成所有操作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语义理解 + 规则引擎计算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4206240"/>
            <a:ext cx="7680960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251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"让软件理解用户，而不是让用户适应软件"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251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· 02</a:t>
            </a:r>
            <a:endParaRPr lang="en-US" sz="9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092E2C-1507-F4E8-E24F-780ED6A1CF1B}"/>
              </a:ext>
            </a:extLst>
          </p:cNvPr>
          <p:cNvSpPr/>
          <p:nvPr/>
        </p:nvSpPr>
        <p:spPr>
          <a:xfrm>
            <a:off x="5318150" y="1828800"/>
            <a:ext cx="234087" cy="182880"/>
          </a:xfrm>
          <a:prstGeom prst="rect">
            <a:avLst/>
          </a:prstGeom>
          <a:noFill/>
          <a:ln w="6350">
            <a:solidFill>
              <a:srgbClr val="002F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4CC97FE-0268-260D-821D-50AA6B59A0D7}"/>
              </a:ext>
            </a:extLst>
          </p:cNvPr>
          <p:cNvSpPr/>
          <p:nvPr/>
        </p:nvSpPr>
        <p:spPr>
          <a:xfrm>
            <a:off x="1214323" y="1828800"/>
            <a:ext cx="234087" cy="18288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3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 · 系统整体架构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SINGLE LLM + MODULAR PROMPT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单 LLM + 模块化 Prompt Workflow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081605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2FA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2" name="Shape 9">
            <a:extLst>
              <a:ext uri="{FF2B5EF4-FFF2-40B4-BE49-F238E27FC236}">
                <a16:creationId xmlns:a16="http://schemas.microsoft.com/office/drawing/2014/main" id="{DB0941D3-DCA0-0348-52B8-89729831F782}"/>
              </a:ext>
            </a:extLst>
          </p:cNvPr>
          <p:cNvSpPr/>
          <p:nvPr/>
        </p:nvSpPr>
        <p:spPr>
          <a:xfrm>
            <a:off x="450055" y="1453896"/>
            <a:ext cx="1116000" cy="1828800"/>
          </a:xfrm>
          <a:prstGeom prst="rect">
            <a:avLst/>
          </a:prstGeom>
          <a:solidFill>
            <a:srgbClr val="D4D4D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08160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2011680"/>
            <a:ext cx="9353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用户输入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423160"/>
            <a:ext cx="9353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8533" y="1463040"/>
            <a:ext cx="1081605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48533" y="1463040"/>
            <a:ext cx="1081605" cy="1828800"/>
          </a:xfrm>
          <a:prstGeom prst="rect">
            <a:avLst/>
          </a:prstGeom>
          <a:solidFill>
            <a:srgbClr val="D4D4D2"/>
          </a:solidFill>
          <a:ln/>
        </p:spPr>
      </p:sp>
      <p:sp>
        <p:nvSpPr>
          <p:cNvPr id="12" name="Text 10"/>
          <p:cNvSpPr/>
          <p:nvPr/>
        </p:nvSpPr>
        <p:spPr>
          <a:xfrm>
            <a:off x="1648533" y="1600200"/>
            <a:ext cx="108160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21685" y="2011680"/>
            <a:ext cx="9353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事务拆分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21685" y="2423160"/>
            <a:ext cx="9353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多意图分段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39865" y="1463040"/>
            <a:ext cx="1081605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839865" y="1463040"/>
            <a:ext cx="1081605" cy="1828800"/>
          </a:xfrm>
          <a:prstGeom prst="rect">
            <a:avLst/>
          </a:prstGeom>
          <a:solidFill>
            <a:srgbClr val="D4D4D2"/>
          </a:solidFill>
          <a:ln/>
        </p:spPr>
      </p:sp>
      <p:sp>
        <p:nvSpPr>
          <p:cNvPr id="17" name="Text 15"/>
          <p:cNvSpPr/>
          <p:nvPr/>
        </p:nvSpPr>
        <p:spPr>
          <a:xfrm>
            <a:off x="2839865" y="1600200"/>
            <a:ext cx="108160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13017" y="2011680"/>
            <a:ext cx="9353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意图识别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13017" y="2423160"/>
            <a:ext cx="9353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记账/日程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31198" y="1463040"/>
            <a:ext cx="1081605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031198" y="1463040"/>
            <a:ext cx="1081605" cy="1828800"/>
          </a:xfrm>
          <a:prstGeom prst="rect">
            <a:avLst/>
          </a:prstGeom>
          <a:solidFill>
            <a:srgbClr val="D4D4D2"/>
          </a:solidFill>
          <a:ln/>
        </p:spPr>
      </p:sp>
      <p:sp>
        <p:nvSpPr>
          <p:cNvPr id="22" name="Text 20"/>
          <p:cNvSpPr/>
          <p:nvPr/>
        </p:nvSpPr>
        <p:spPr>
          <a:xfrm>
            <a:off x="4031198" y="1600200"/>
            <a:ext cx="108160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04350" y="2011680"/>
            <a:ext cx="9353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Prompt调度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04350" y="2423160"/>
            <a:ext cx="9353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模块匹配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22530" y="1463040"/>
            <a:ext cx="1081605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22530" y="1463040"/>
            <a:ext cx="1081605" cy="1828800"/>
          </a:xfrm>
          <a:prstGeom prst="rect">
            <a:avLst/>
          </a:prstGeom>
          <a:solidFill>
            <a:srgbClr val="D4D4D2"/>
          </a:solidFill>
          <a:ln/>
        </p:spPr>
      </p:sp>
      <p:sp>
        <p:nvSpPr>
          <p:cNvPr id="27" name="Text 25"/>
          <p:cNvSpPr/>
          <p:nvPr/>
        </p:nvSpPr>
        <p:spPr>
          <a:xfrm>
            <a:off x="5222530" y="1600200"/>
            <a:ext cx="108160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95682" y="2011680"/>
            <a:ext cx="9353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JSON输出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95682" y="2423160"/>
            <a:ext cx="9353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结构化解析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13863" y="1463040"/>
            <a:ext cx="1081605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13863" y="1463040"/>
            <a:ext cx="1081605" cy="1828800"/>
          </a:xfrm>
          <a:prstGeom prst="rect">
            <a:avLst/>
          </a:prstGeom>
          <a:solidFill>
            <a:srgbClr val="D4D4D2"/>
          </a:solidFill>
          <a:ln/>
        </p:spPr>
      </p:sp>
      <p:sp>
        <p:nvSpPr>
          <p:cNvPr id="32" name="Text 30"/>
          <p:cNvSpPr/>
          <p:nvPr/>
        </p:nvSpPr>
        <p:spPr>
          <a:xfrm>
            <a:off x="6413863" y="1600200"/>
            <a:ext cx="108160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87015" y="2011680"/>
            <a:ext cx="9353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校验修复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87015" y="2423160"/>
            <a:ext cx="9353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多层保障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605195" y="1463040"/>
            <a:ext cx="1081605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605195" y="1463040"/>
            <a:ext cx="1081605" cy="1828800"/>
          </a:xfrm>
          <a:prstGeom prst="rect">
            <a:avLst/>
          </a:prstGeom>
          <a:solidFill>
            <a:srgbClr val="D4D4D2"/>
          </a:solidFill>
          <a:ln/>
        </p:spPr>
      </p:sp>
      <p:sp>
        <p:nvSpPr>
          <p:cNvPr id="37" name="Text 35"/>
          <p:cNvSpPr/>
          <p:nvPr/>
        </p:nvSpPr>
        <p:spPr>
          <a:xfrm>
            <a:off x="7605195" y="1600200"/>
            <a:ext cx="108160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678347" y="2011680"/>
            <a:ext cx="9353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存储反馈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78347" y="2423160"/>
            <a:ext cx="9353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SQLite存储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94360" y="3246120"/>
            <a:ext cx="24688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94360" y="3246120"/>
            <a:ext cx="2468880" cy="36576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" y="3429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" y="37490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响应式移动端UI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337560" y="3246120"/>
            <a:ext cx="24688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337560" y="3246120"/>
            <a:ext cx="2468880" cy="36576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46" name="Text 44"/>
          <p:cNvSpPr/>
          <p:nvPr/>
        </p:nvSpPr>
        <p:spPr>
          <a:xfrm>
            <a:off x="3520440" y="3429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520440" y="37490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Flask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数据库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080760" y="3246120"/>
            <a:ext cx="24688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080760" y="3246120"/>
            <a:ext cx="2468880" cy="36576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50" name="Text 48"/>
          <p:cNvSpPr/>
          <p:nvPr/>
        </p:nvSpPr>
        <p:spPr>
          <a:xfrm>
            <a:off x="6263640" y="3429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63640" y="37490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/ 通义千问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本地开发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</a:t>
            </a:r>
            <a:endParaRPr lang="en-US" sz="1100" dirty="0"/>
          </a:p>
        </p:txBody>
      </p:sp>
      <p:sp>
        <p:nvSpPr>
          <p:cNvPr id="54" name="Shape 39">
            <a:extLst>
              <a:ext uri="{FF2B5EF4-FFF2-40B4-BE49-F238E27FC236}">
                <a16:creationId xmlns:a16="http://schemas.microsoft.com/office/drawing/2014/main" id="{1F6C9D3B-AF9E-D29D-7DDA-67142541072D}"/>
              </a:ext>
            </a:extLst>
          </p:cNvPr>
          <p:cNvSpPr/>
          <p:nvPr/>
        </p:nvSpPr>
        <p:spPr>
          <a:xfrm>
            <a:off x="450055" y="1463040"/>
            <a:ext cx="1116000" cy="3600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55" name="Shape 39">
            <a:extLst>
              <a:ext uri="{FF2B5EF4-FFF2-40B4-BE49-F238E27FC236}">
                <a16:creationId xmlns:a16="http://schemas.microsoft.com/office/drawing/2014/main" id="{0D7CBEC3-F6E9-0DE9-3527-EB65D775819B}"/>
              </a:ext>
            </a:extLst>
          </p:cNvPr>
          <p:cNvSpPr/>
          <p:nvPr/>
        </p:nvSpPr>
        <p:spPr>
          <a:xfrm>
            <a:off x="1652104" y="1465616"/>
            <a:ext cx="1080000" cy="36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7" name="Shape 39">
            <a:extLst>
              <a:ext uri="{FF2B5EF4-FFF2-40B4-BE49-F238E27FC236}">
                <a16:creationId xmlns:a16="http://schemas.microsoft.com/office/drawing/2014/main" id="{A96A42DE-56AA-937E-A357-18F13E7D6ABD}"/>
              </a:ext>
            </a:extLst>
          </p:cNvPr>
          <p:cNvSpPr/>
          <p:nvPr/>
        </p:nvSpPr>
        <p:spPr>
          <a:xfrm>
            <a:off x="2836292" y="1472857"/>
            <a:ext cx="1080000" cy="36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8" name="Shape 39">
            <a:extLst>
              <a:ext uri="{FF2B5EF4-FFF2-40B4-BE49-F238E27FC236}">
                <a16:creationId xmlns:a16="http://schemas.microsoft.com/office/drawing/2014/main" id="{C0686C66-1EC5-2D76-7FF4-F57D673AD0CD}"/>
              </a:ext>
            </a:extLst>
          </p:cNvPr>
          <p:cNvSpPr/>
          <p:nvPr/>
        </p:nvSpPr>
        <p:spPr>
          <a:xfrm>
            <a:off x="4032000" y="1469523"/>
            <a:ext cx="1080000" cy="36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9" name="Shape 39">
            <a:extLst>
              <a:ext uri="{FF2B5EF4-FFF2-40B4-BE49-F238E27FC236}">
                <a16:creationId xmlns:a16="http://schemas.microsoft.com/office/drawing/2014/main" id="{AA92570A-343D-42CF-4EF9-E4A29E0B95D3}"/>
              </a:ext>
            </a:extLst>
          </p:cNvPr>
          <p:cNvSpPr/>
          <p:nvPr/>
        </p:nvSpPr>
        <p:spPr>
          <a:xfrm>
            <a:off x="5221727" y="1472857"/>
            <a:ext cx="1080000" cy="36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60" name="Shape 39">
            <a:extLst>
              <a:ext uri="{FF2B5EF4-FFF2-40B4-BE49-F238E27FC236}">
                <a16:creationId xmlns:a16="http://schemas.microsoft.com/office/drawing/2014/main" id="{4BCEE47D-EDBE-08E8-8948-42CB3C791941}"/>
              </a:ext>
            </a:extLst>
          </p:cNvPr>
          <p:cNvSpPr/>
          <p:nvPr/>
        </p:nvSpPr>
        <p:spPr>
          <a:xfrm>
            <a:off x="6415468" y="1472857"/>
            <a:ext cx="1080000" cy="36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61" name="Shape 39">
            <a:extLst>
              <a:ext uri="{FF2B5EF4-FFF2-40B4-BE49-F238E27FC236}">
                <a16:creationId xmlns:a16="http://schemas.microsoft.com/office/drawing/2014/main" id="{5795E4EA-F5B1-C923-9558-D1B6C776C608}"/>
              </a:ext>
            </a:extLst>
          </p:cNvPr>
          <p:cNvSpPr/>
          <p:nvPr/>
        </p:nvSpPr>
        <p:spPr>
          <a:xfrm>
            <a:off x="7613945" y="1466958"/>
            <a:ext cx="1080000" cy="36000"/>
          </a:xfrm>
          <a:prstGeom prst="rect">
            <a:avLst/>
          </a:prstGeom>
          <a:solidFill>
            <a:schemeClr val="tx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3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 · </a:t>
            </a:r>
            <a:r>
              <a:rPr lang="zh-CN" altLang="en-US" sz="1000" kern="0" spc="3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系统运行示例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NATURAL LANGUAGE → STRUCTURED TRANSACTIONS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自然语言输入→结构化事务→数据库存储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600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01 / </a:t>
            </a:r>
            <a:r>
              <a:rPr lang="zh-CN" altLang="en-US" sz="800" kern="0" spc="30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自然语言输入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2242108"/>
            <a:ext cx="3657600" cy="2627071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2379269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02 / </a:t>
            </a:r>
            <a:r>
              <a:rPr lang="en-US" altLang="zh-CN" sz="800" kern="0" spc="30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r>
              <a:rPr lang="zh-CN" altLang="en-US" sz="800" kern="0" spc="30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结构化输出（</a:t>
            </a:r>
            <a:r>
              <a:rPr lang="en-US" altLang="zh-CN" sz="800" kern="0" spc="30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r>
              <a:rPr lang="zh-CN" altLang="en-US" sz="800" kern="0" spc="30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35428" y="4524673"/>
            <a:ext cx="33250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Temperature=0 · Markdown</a:t>
            </a:r>
            <a:r>
              <a:rPr lang="zh-CN" altLang="en-US" sz="9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清洗 </a:t>
            </a:r>
            <a:r>
              <a:rPr lang="en-US" altLang="zh-CN" sz="9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r>
              <a:rPr lang="zh-CN" altLang="en-US" sz="9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校验 </a:t>
            </a:r>
            <a:r>
              <a:rPr lang="en-US" altLang="zh-CN" sz="9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zh-CN" altLang="en-US" sz="9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默认值补全</a:t>
            </a:r>
          </a:p>
        </p:txBody>
      </p:sp>
      <p:sp>
        <p:nvSpPr>
          <p:cNvPr id="14" name="Shape 12"/>
          <p:cNvSpPr/>
          <p:nvPr/>
        </p:nvSpPr>
        <p:spPr>
          <a:xfrm>
            <a:off x="4493029" y="2359494"/>
            <a:ext cx="2424545" cy="1304649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37613" y="25532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03 / </a:t>
            </a:r>
            <a:r>
              <a:rPr lang="zh-CN" altLang="en-US" sz="800" kern="0" spc="30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数据库存储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37613" y="2877648"/>
            <a:ext cx="2379961" cy="699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None/>
            </a:pPr>
            <a:r>
              <a:rPr lang="en-US" altLang="zh-CN" sz="800" b="0" i="0" dirty="0">
                <a:solidFill>
                  <a:srgbClr val="0A0A0A"/>
                </a:solidFill>
                <a:effectLst/>
                <a:latin typeface="JetBrains Mono"/>
              </a:rPr>
              <a:t>✓ INSERT INTO expenses VALUES (35, '</a:t>
            </a:r>
            <a:r>
              <a:rPr lang="zh-CN" altLang="en-US" sz="800" b="0" i="0" dirty="0">
                <a:solidFill>
                  <a:srgbClr val="0A0A0A"/>
                </a:solidFill>
                <a:effectLst/>
                <a:latin typeface="JetBrains Mono"/>
              </a:rPr>
              <a:t>餐饮</a:t>
            </a:r>
            <a:r>
              <a:rPr lang="en-US" altLang="zh-CN" sz="800" b="0" i="0" dirty="0">
                <a:solidFill>
                  <a:srgbClr val="0A0A0A"/>
                </a:solidFill>
                <a:effectLst/>
                <a:latin typeface="JetBrains Mono"/>
              </a:rPr>
              <a:t>', '2026-05-24')</a:t>
            </a:r>
            <a:br>
              <a:rPr lang="en-US" altLang="zh-CN" sz="800" b="0" i="0" dirty="0">
                <a:solidFill>
                  <a:srgbClr val="0A0A0A"/>
                </a:solidFill>
                <a:effectLst/>
                <a:latin typeface="JetBrains Mono"/>
              </a:rPr>
            </a:br>
            <a:r>
              <a:rPr lang="en-US" altLang="zh-CN" sz="800" b="0" i="0" dirty="0">
                <a:solidFill>
                  <a:srgbClr val="0A0A0A"/>
                </a:solidFill>
                <a:effectLst/>
                <a:latin typeface="JetBrains Mono"/>
              </a:rPr>
              <a:t>✓ INSERT INTO schedules VALUES ('</a:t>
            </a:r>
            <a:r>
              <a:rPr lang="zh-CN" altLang="en-US" sz="800" b="0" i="0" dirty="0">
                <a:solidFill>
                  <a:srgbClr val="0A0A0A"/>
                </a:solidFill>
                <a:effectLst/>
                <a:latin typeface="JetBrains Mono"/>
              </a:rPr>
              <a:t>开会</a:t>
            </a:r>
            <a:r>
              <a:rPr lang="en-US" altLang="zh-CN" sz="800" b="0" i="0" dirty="0">
                <a:solidFill>
                  <a:srgbClr val="0A0A0A"/>
                </a:solidFill>
                <a:effectLst/>
                <a:latin typeface="JetBrains Mono"/>
              </a:rPr>
              <a:t>', '2026-05-25 15:00')</a:t>
            </a:r>
          </a:p>
          <a:p>
            <a:pPr algn="l">
              <a:buNone/>
            </a:pPr>
            <a:r>
              <a:rPr lang="zh-CN" altLang="en-US" sz="800" b="0" i="0" dirty="0">
                <a:solidFill>
                  <a:srgbClr val="0A0A0A"/>
                </a:solidFill>
                <a:effectLst/>
                <a:latin typeface="Inter"/>
              </a:rPr>
              <a:t>已记录 餐饮 支出 </a:t>
            </a:r>
            <a:r>
              <a:rPr lang="en-US" altLang="zh-CN" sz="800" b="0" i="0" dirty="0">
                <a:solidFill>
                  <a:srgbClr val="0A0A0A"/>
                </a:solidFill>
                <a:effectLst/>
                <a:latin typeface="Inter"/>
              </a:rPr>
              <a:t>¥35.00 · </a:t>
            </a:r>
            <a:r>
              <a:rPr lang="zh-CN" altLang="en-US" sz="800" b="0" i="0" dirty="0">
                <a:solidFill>
                  <a:srgbClr val="0A0A0A"/>
                </a:solidFill>
                <a:effectLst/>
                <a:latin typeface="Inter"/>
              </a:rPr>
              <a:t>已创建 会议 日程</a:t>
            </a:r>
          </a:p>
          <a:p>
            <a:pPr marL="0" indent="0" algn="l">
              <a:buNone/>
            </a:pPr>
            <a:r>
              <a:rPr lang="en-US" sz="800" kern="0" spc="3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INNOVATION</a:t>
            </a:r>
            <a:endParaRPr lang="en-US" sz="8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0F79F21-A38E-1339-FBDF-2C706E9BA65B}"/>
              </a:ext>
            </a:extLst>
          </p:cNvPr>
          <p:cNvSpPr txBox="1"/>
          <p:nvPr/>
        </p:nvSpPr>
        <p:spPr>
          <a:xfrm>
            <a:off x="960120" y="1746961"/>
            <a:ext cx="447690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zh-CN" altLang="en-US" sz="950" dirty="0">
                <a:solidFill>
                  <a:srgbClr val="525252"/>
                </a:solidFill>
                <a:latin typeface="Calibri" pitchFamily="34" charset="0"/>
                <a:cs typeface="Calibri" pitchFamily="34" charset="-120"/>
              </a:rPr>
              <a:t>今天午饭</a:t>
            </a:r>
            <a:r>
              <a:rPr lang="en-US" altLang="zh-CN" sz="9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r>
              <a:rPr lang="zh-CN" altLang="en-US" sz="950" dirty="0">
                <a:solidFill>
                  <a:srgbClr val="525252"/>
                </a:solidFill>
                <a:latin typeface="Calibri" pitchFamily="34" charset="0"/>
                <a:cs typeface="Calibri" pitchFamily="34" charset="-120"/>
              </a:rPr>
              <a:t>元，明天下午</a:t>
            </a:r>
            <a:r>
              <a:rPr lang="en-US" altLang="zh-CN" sz="9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zh-CN" altLang="en-US" sz="950" dirty="0">
                <a:solidFill>
                  <a:srgbClr val="525252"/>
                </a:solidFill>
                <a:latin typeface="Calibri" pitchFamily="34" charset="0"/>
                <a:cs typeface="Calibri" pitchFamily="34" charset="-120"/>
              </a:rPr>
              <a:t>点开会</a:t>
            </a:r>
            <a:r>
              <a:rPr lang="en-US" altLang="zh-CN" sz="9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</a:p>
          <a:p>
            <a:r>
              <a:rPr lang="zh-CN" altLang="en-US" sz="950" dirty="0">
                <a:solidFill>
                  <a:srgbClr val="525252"/>
                </a:solidFill>
                <a:latin typeface="Calibri" pitchFamily="34" charset="0"/>
                <a:cs typeface="Calibri" pitchFamily="34" charset="-120"/>
              </a:rPr>
              <a:t>单条输入，包含混合意图（支出 </a:t>
            </a:r>
            <a:r>
              <a:rPr lang="en-US" altLang="zh-CN" sz="9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zh-CN" altLang="en-US" sz="950" dirty="0">
                <a:solidFill>
                  <a:srgbClr val="525252"/>
                </a:solidFill>
                <a:latin typeface="Calibri" pitchFamily="34" charset="0"/>
                <a:cs typeface="Calibri" pitchFamily="34" charset="-120"/>
              </a:rPr>
              <a:t>日程）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DC86235-BDD7-15A9-A9DC-D9158D964733}"/>
              </a:ext>
            </a:extLst>
          </p:cNvPr>
          <p:cNvSpPr/>
          <p:nvPr/>
        </p:nvSpPr>
        <p:spPr>
          <a:xfrm>
            <a:off x="835429" y="2571750"/>
            <a:ext cx="3200400" cy="1923453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5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5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 "type": "expense",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5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 "amount": 35,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5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 "category": "</a:t>
            </a:r>
            <a:r>
              <a:rPr kumimoji="0" lang="zh-CN" alt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Calibri" pitchFamily="34" charset="0"/>
                <a:ea typeface="等线" panose="02010600030101010101" pitchFamily="2" charset="-122"/>
                <a:cs typeface="Calibri" pitchFamily="34" charset="-120"/>
              </a:rPr>
              <a:t>餐饮</a:t>
            </a:r>
            <a:r>
              <a:rPr kumimoji="0" lang="en-US" altLang="zh-CN" sz="95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5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 "time": "2026-05-24"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5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},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5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5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 "type": "schedule",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5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 "title": "</a:t>
            </a:r>
            <a:r>
              <a:rPr kumimoji="0" lang="zh-CN" alt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Calibri" pitchFamily="34" charset="0"/>
                <a:ea typeface="等线" panose="02010600030101010101" pitchFamily="2" charset="-122"/>
                <a:cs typeface="Calibri" pitchFamily="34" charset="-120"/>
              </a:rPr>
              <a:t>开会</a:t>
            </a:r>
            <a:r>
              <a:rPr kumimoji="0" lang="en-US" altLang="zh-CN" sz="95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5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 "time": "2026-05-25 15:00"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5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5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zh-CN" altLang="en-US" dirty="0"/>
          </a:p>
        </p:txBody>
      </p:sp>
      <p:pic>
        <p:nvPicPr>
          <p:cNvPr id="25" name="图片 24" descr="AI对话解析结果">
            <a:extLst>
              <a:ext uri="{FF2B5EF4-FFF2-40B4-BE49-F238E27FC236}">
                <a16:creationId xmlns:a16="http://schemas.microsoft.com/office/drawing/2014/main" id="{2601E152-310E-456C-A0BC-0CD54305C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845" y="955098"/>
            <a:ext cx="1827325" cy="38602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CF4C8F-99FE-4E3A-0929-D0ED63DBD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957A9B7-5A79-17C1-3B02-93FB2BF5BBB7}"/>
              </a:ext>
            </a:extLst>
          </p:cNvPr>
          <p:cNvSpPr/>
          <p:nvPr/>
        </p:nvSpPr>
        <p:spPr>
          <a:xfrm>
            <a:off x="731520" y="274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1000" kern="0" spc="3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</a:t>
            </a:r>
            <a:r>
              <a:rPr lang="en-US" sz="1000" kern="0" spc="3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项目创新点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759771-8D31-D2D8-DE47-7C59F021EC9B}"/>
              </a:ext>
            </a:extLst>
          </p:cNvPr>
          <p:cNvSpPr/>
          <p:nvPr/>
        </p:nvSpPr>
        <p:spPr>
          <a:xfrm>
            <a:off x="731520" y="502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INNOVATIONS · FOUR CORE CONTRIBUTIONS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611A97-AA38-6453-7D98-E9A5E0B039F4}"/>
              </a:ext>
            </a:extLst>
          </p:cNvPr>
          <p:cNvSpPr/>
          <p:nvPr/>
        </p:nvSpPr>
        <p:spPr>
          <a:xfrm>
            <a:off x="731520" y="7772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四大核心创新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81B94EC-0544-D4A4-49B0-C965F76FABE1}"/>
              </a:ext>
            </a:extLst>
          </p:cNvPr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721AC45-8E3C-5E9B-D13C-4E8AA098F5B6}"/>
              </a:ext>
            </a:extLst>
          </p:cNvPr>
          <p:cNvSpPr/>
          <p:nvPr/>
        </p:nvSpPr>
        <p:spPr>
          <a:xfrm>
            <a:off x="731520" y="146304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CEBC8ED-E478-306D-0346-B74DD1D5D42F}"/>
              </a:ext>
            </a:extLst>
          </p:cNvPr>
          <p:cNvSpPr/>
          <p:nvPr/>
        </p:nvSpPr>
        <p:spPr>
          <a:xfrm>
            <a:off x="960120" y="1600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01 / INNOVATION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CBF9CFC-A04F-3809-D71C-3CFBA2302373}"/>
              </a:ext>
            </a:extLst>
          </p:cNvPr>
          <p:cNvSpPr/>
          <p:nvPr/>
        </p:nvSpPr>
        <p:spPr>
          <a:xfrm>
            <a:off x="960120" y="1828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Native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交互范式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9E1A798-4A51-DC22-2762-A25740111E3D}"/>
              </a:ext>
            </a:extLst>
          </p:cNvPr>
          <p:cNvSpPr/>
          <p:nvPr/>
        </p:nvSpPr>
        <p:spPr>
          <a:xfrm>
            <a:off x="96012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自然语言驱动事务管理，摆脱传统表单交互，一句话完成所有操作。</a:t>
            </a:r>
            <a:endParaRPr lang="en-US" sz="9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4352511-A2F8-E7E7-B25B-AF9323A36883}"/>
              </a:ext>
            </a:extLst>
          </p:cNvPr>
          <p:cNvSpPr/>
          <p:nvPr/>
        </p:nvSpPr>
        <p:spPr>
          <a:xfrm>
            <a:off x="4754880" y="146304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CCF17CA-E3D1-F0B8-5DC7-8601F8768A82}"/>
              </a:ext>
            </a:extLst>
          </p:cNvPr>
          <p:cNvSpPr/>
          <p:nvPr/>
        </p:nvSpPr>
        <p:spPr>
          <a:xfrm>
            <a:off x="4983480" y="1600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02 / INNOVATION</a:t>
            </a:r>
            <a:endParaRPr lang="en-US" sz="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F0C1405-F9FD-C623-4AD8-19F1FB6DDC7F}"/>
              </a:ext>
            </a:extLst>
          </p:cNvPr>
          <p:cNvSpPr/>
          <p:nvPr/>
        </p:nvSpPr>
        <p:spPr>
          <a:xfrm>
            <a:off x="4983480" y="1828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模块化Prompt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Workflow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D480671-FB15-516D-8587-F1C70315F7C7}"/>
              </a:ext>
            </a:extLst>
          </p:cNvPr>
          <p:cNvSpPr/>
          <p:nvPr/>
        </p:nvSpPr>
        <p:spPr>
          <a:xfrm>
            <a:off x="498348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单LLM + 多模块职责分离，易调试、易扩展，降低多Agent复杂度。</a:t>
            </a:r>
            <a:endParaRPr lang="en-US" sz="9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0FE661E-8E04-F30E-F219-C724DAE54AFA}"/>
              </a:ext>
            </a:extLst>
          </p:cNvPr>
          <p:cNvSpPr/>
          <p:nvPr/>
        </p:nvSpPr>
        <p:spPr>
          <a:xfrm>
            <a:off x="731520" y="315468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F4B69ED-681D-DBF3-013B-2B05D4EDD8EE}"/>
              </a:ext>
            </a:extLst>
          </p:cNvPr>
          <p:cNvSpPr/>
          <p:nvPr/>
        </p:nvSpPr>
        <p:spPr>
          <a:xfrm>
            <a:off x="960120" y="32918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03 / INNOVATION</a:t>
            </a:r>
            <a:endParaRPr lang="en-US" sz="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1CF7F7A-FC76-74A8-49D6-8EC92ADB3800}"/>
              </a:ext>
            </a:extLst>
          </p:cNvPr>
          <p:cNvSpPr/>
          <p:nvPr/>
        </p:nvSpPr>
        <p:spPr>
          <a:xfrm>
            <a:off x="960120" y="3520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混合式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时间解析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28F0793-9ED4-90D4-3654-5CDAF10D1187}"/>
              </a:ext>
            </a:extLst>
          </p:cNvPr>
          <p:cNvSpPr/>
          <p:nvPr/>
        </p:nvSpPr>
        <p:spPr>
          <a:xfrm>
            <a:off x="96012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LLM理解"明天下午""下周三"，规则引擎负责标准时间计算与格式转换。</a:t>
            </a:r>
            <a:endParaRPr lang="en-US" sz="9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719B35B-CF48-466D-CF7A-DB6CE4096B0B}"/>
              </a:ext>
            </a:extLst>
          </p:cNvPr>
          <p:cNvSpPr/>
          <p:nvPr/>
        </p:nvSpPr>
        <p:spPr>
          <a:xfrm>
            <a:off x="4754880" y="3154680"/>
            <a:ext cx="3657600" cy="1371600"/>
          </a:xfrm>
          <a:prstGeom prst="rect">
            <a:avLst/>
          </a:prstGeom>
          <a:solidFill>
            <a:srgbClr val="002FA7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B2D0F6C-0F73-446E-37D3-1F6B3DAEC80A}"/>
              </a:ext>
            </a:extLst>
          </p:cNvPr>
          <p:cNvSpPr/>
          <p:nvPr/>
        </p:nvSpPr>
        <p:spPr>
          <a:xfrm>
            <a:off x="4983480" y="32918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04 / INNOVATION</a:t>
            </a:r>
            <a:endParaRPr lang="en-US" sz="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1B68F0A-A99C-238A-8A55-376A2EE947AE}"/>
              </a:ext>
            </a:extLst>
          </p:cNvPr>
          <p:cNvSpPr/>
          <p:nvPr/>
        </p:nvSpPr>
        <p:spPr>
          <a:xfrm>
            <a:off x="4983480" y="3520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结构化输出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稳定性机制</a:t>
            </a:r>
            <a:endParaRPr lang="en-US" sz="14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CDB9610-6A26-BEB3-6F32-A10DF8A46385}"/>
              </a:ext>
            </a:extLst>
          </p:cNvPr>
          <p:cNvSpPr/>
          <p:nvPr/>
        </p:nvSpPr>
        <p:spPr>
          <a:xfrm>
            <a:off x="498348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Markdown清洗 → JSON修复 → Schema校验 → 默认值补全，多层保障。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649470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1000" kern="0" spc="3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</a:t>
            </a:r>
            <a:r>
              <a:rPr lang="en-US" sz="1000" kern="0" spc="3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移动端交互设计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· AI NATIVE MOBILE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核心球 · 语音优先 · 沉浸式体验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73152" cy="73152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7190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AI核心球呼吸动画交互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130552"/>
            <a:ext cx="73152" cy="73152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0665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语音优先输入模式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2478024"/>
            <a:ext cx="73152" cy="73152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4140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沉浸式单页首页设计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825496"/>
            <a:ext cx="73152" cy="73152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7614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侧边抽屉菜单（低频功能）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3172968"/>
            <a:ext cx="73152" cy="73152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108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Purple 柔和科技风配色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520440"/>
            <a:ext cx="73152" cy="73152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4564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深色模式优先 · 大留白 · 微发光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3200400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023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用户无需进入复杂页面，首页即可完成核心事务操作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389120" y="4245421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主界面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389120" y="4455733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核心球 · 首页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943600" y="4245421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语音模式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5943600" y="4455733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First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7498080" y="4245421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文字输入</a:t>
            </a:r>
            <a:r>
              <a:rPr lang="zh-CN" alt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及反馈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7498080" y="4455733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800" kern="0" spc="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卡片</a:t>
            </a:r>
            <a:r>
              <a:rPr lang="en-US" sz="800" kern="0" spc="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式交互</a:t>
            </a:r>
            <a:endParaRPr lang="en-US" sz="800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EC6E3F10-993B-14D4-245B-457D8E5B6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775" y="1280160"/>
            <a:ext cx="1399185" cy="2979439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20F59642-8898-16B1-CBCC-1BCAC4E7A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9305" y="1315434"/>
            <a:ext cx="1399185" cy="2937825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648B7021-78EE-7D66-2355-A576A4F5A7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875" y="1315434"/>
            <a:ext cx="1399185" cy="29382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1000" kern="0" spc="3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</a:t>
            </a:r>
            <a:r>
              <a:rPr lang="en-US" sz="1000" kern="0" spc="3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预期成果与实验评估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EVALUATION METRICS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项目产出 · 量化评估指标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DELIVERABLES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34747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8288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Native 事务管理系统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原型 + 移动端核心功能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34747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4688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模块化 Prompt 模板库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事务解析 · 时间推理 · 意图分类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3063240"/>
            <a:ext cx="34747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1089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软件著作权 1 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3375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Native 事务管理平台 V1.0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34747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7490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技术论文 / 研究报告 1 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97764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在事务管理场景的工程化验证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920240"/>
            <a:ext cx="2926080" cy="13716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1920240"/>
            <a:ext cx="2633472" cy="13716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73621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意图识别准确率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79792" y="18745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2F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≥ 90%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2560320"/>
            <a:ext cx="2926080" cy="13716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2560320"/>
            <a:ext cx="2779776" cy="13716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3762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输出有效率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34656" y="2519743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2F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≥ 95%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3200400"/>
            <a:ext cx="2926080" cy="13716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3200400"/>
            <a:ext cx="2574950" cy="137160"/>
          </a:xfrm>
          <a:prstGeom prst="rect">
            <a:avLst/>
          </a:prstGeom>
          <a:solidFill>
            <a:srgbClr val="D4D4D2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99494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时间解析正确率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34656" y="314525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≥ 88%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3783328"/>
            <a:ext cx="2926080" cy="13716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32" name="Shape 30"/>
          <p:cNvSpPr/>
          <p:nvPr/>
        </p:nvSpPr>
        <p:spPr>
          <a:xfrm>
            <a:off x="4754880" y="3783328"/>
            <a:ext cx="2487168" cy="137160"/>
          </a:xfrm>
          <a:prstGeom prst="rect">
            <a:avLst/>
          </a:prstGeom>
          <a:solidFill>
            <a:srgbClr val="D4D4D2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5921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多意图拆分准确率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563573" y="373703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≥ 85%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54880" y="4251959"/>
            <a:ext cx="2926080" cy="13716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36" name="Shape 34"/>
          <p:cNvSpPr/>
          <p:nvPr/>
        </p:nvSpPr>
        <p:spPr>
          <a:xfrm>
            <a:off x="4754880" y="4251959"/>
            <a:ext cx="2048256" cy="13716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4060791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交互效率提升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34656" y="4209669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2F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3-5×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31520" y="4480560"/>
            <a:ext cx="7680960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项目目标：验证大语言模型在事务管理场景中的工程化可行性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31520" y="4526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· 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300" dirty="0">
                <a:solidFill>
                  <a:srgbClr val="FFFFFF">
                    <a:alpha val="6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FFFFFF">
                    <a:alpha val="6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600" dirty="0">
                <a:solidFill>
                  <a:srgbClr val="FFFFFF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感谢各位老师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聆听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"让软件理解用户，而不是让用户适应软件。"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411480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FFFFFF">
                    <a:alpha val="6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智能AI工坊实验室 · 软件工程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4206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FFFFFF">
                    <a:alpha val="6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03520" y="731520"/>
            <a:ext cx="34747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7784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7784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POINTS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77840" y="1554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Native 交互范式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18470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自然语言驱动，告别传统表单操作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577840" y="2468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模块化 Prompt Workflow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0" y="27614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 LLM + 多模块职责，轻量稳定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577840" y="33832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02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2F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工程化可行性验证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35040" y="36758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在事务场景中的实用价值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77840" y="40233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请各位老师批评指正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603</Words>
  <Application>Microsoft Office PowerPoint</Application>
  <PresentationFormat>全屏显示(16:9)</PresentationFormat>
  <Paragraphs>177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Inter</vt:lpstr>
      <vt:lpstr>JetBrains Mono</vt:lpstr>
      <vt:lpstr>Arial</vt:lpstr>
      <vt:lpstr>Arial Black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基于大语言模型的AI Native事务管理系统设计与实现</dc:title>
  <dc:subject>PptxGenJS Presentation</dc:subject>
  <dc:creator>智能AI工坊实验室</dc:creator>
  <cp:lastModifiedBy>quan sun</cp:lastModifiedBy>
  <cp:revision>21</cp:revision>
  <dcterms:created xsi:type="dcterms:W3CDTF">2026-05-24T02:44:25Z</dcterms:created>
  <dcterms:modified xsi:type="dcterms:W3CDTF">2026-05-24T03:56:08Z</dcterms:modified>
</cp:coreProperties>
</file>