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90" r:id="rId5"/>
    <p:sldId id="291" r:id="rId6"/>
    <p:sldId id="292" r:id="rId7"/>
    <p:sldId id="259" r:id="rId8"/>
    <p:sldId id="294" r:id="rId9"/>
    <p:sldId id="295" r:id="rId10"/>
    <p:sldId id="289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4" pos="7265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712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16B"/>
    <a:srgbClr val="235C86"/>
    <a:srgbClr val="E9EEF1"/>
    <a:srgbClr val="BCD9EE"/>
    <a:srgbClr val="B5B6B6"/>
    <a:srgbClr val="FEDC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96" y="76"/>
      </p:cViewPr>
      <p:guideLst>
        <p:guide orient="horz" pos="2288"/>
        <p:guide pos="3840"/>
        <p:guide pos="416"/>
        <p:guide pos="7265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48FD76-DB34-4A20-8367-B9AF86A8BD2F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283CA-B4E5-4A35-A51A-AD88793F2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411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206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01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146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992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110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7283CA-B4E5-4A35-A51A-AD88793F2D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58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37050-2380-4DE7-8092-E7C584CA9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BBB680-C5A8-4C62-A44B-96AD9D4A8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49D51-4151-4C87-8C29-B4FB710D0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11B9CB-58D0-4100-BC27-DB156216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1110F-2F37-47A7-9FF3-A7E6957B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00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086785-ACB4-46B0-9A5C-3E331E34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C32AC-3AEA-4C9D-A786-39608428F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0B8E3-AF27-4D91-9B7B-5ACE7F3D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4202C-7DC5-4EA7-88EC-A0FF0A35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4B69D1-7C7D-4E47-AE1B-DADA64FA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05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FA76E-FAFE-4935-BA90-DFF1FB24D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3DD7A4-7F24-46E2-8E39-B571E7E5A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5DCA65-6E25-4749-A216-CB38781F0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9C1D9-93EE-4FCE-9796-F1BF0B9F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3BD58D-C48D-4170-B068-B3D7B33E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42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6D81C-BA46-4ACB-BDBD-BF3311C2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CFC01-70FB-4357-85AD-EBE3FE22B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A2F3CA-7F49-4149-BDF4-0E5A9E7AD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D568B4-11FD-476B-A3F2-66E2FEC0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28C303-69E8-44FB-B983-922073FFE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9C790F-9EBF-410C-8875-87C66E1E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20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90CFE-BFE4-4D83-A732-1AC4A5C8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0D1E47-DE94-4B01-864A-A425CF28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D4E9E-A993-4710-956B-90270E4C0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6C7559-8162-4E2B-8893-9EF383F247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4E8A2C-06B5-4247-8291-FD513DD02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92FB15-B947-4F5C-A58E-A4F1D47D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461B07-D4D9-424F-B184-E7CC6921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D639F4-4B4C-4B3A-B76F-91E75478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94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13EEE5-ADA8-45F3-9D81-9CE59C7B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996865-D869-41AD-B1E6-8E7E41B51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7E37E-4A18-477E-8B1F-D18879FC5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0843C7-7114-4FFE-9640-65FF4C60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6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8F56E7-68F8-4914-A47B-946C9412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0B3B07-6DDA-4400-B074-74CB4D48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1D289-7C99-4167-8293-0819DC75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8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CD08A-147A-4E1B-B2BE-15809C6D0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F5CB1-775B-4494-9D4C-60CCA046D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288EA3-EBE7-4441-8094-8AF07DE1D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0C5956-7813-4202-8C8A-7F3C380D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8BCC36-2F8A-42E8-A626-E3A61B53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CC8D99-3F47-4654-AE61-1A70ED8A5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4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AEC52-E9CE-48D3-A644-CD87083D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EAF53C-0AD6-418C-8222-B0446EF66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3FFE1-7904-4596-ADC5-78AE7AF94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598E06-70E4-4584-AFE5-2D96DB0E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222721-3849-43D7-ABC8-D594229A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A64FA5-0122-48F4-8A65-A5496FED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28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9CA1E-AFA4-4A10-AC0C-D59E2859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9094CA-5D0A-41EF-922F-CC0A8927B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61E586-DE0C-4ACD-9812-CC757BFB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B3C3B-B8AC-41B4-B337-C6034551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B56B08-28B5-41BC-9184-79CC305D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67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A4B1B2-8B5B-42BC-B3CC-39F7F8BE3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7DB8E5-4E1E-459D-B8A5-5BD6C8300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A69EA-07D7-43F7-B625-844FA9B8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76557-0D36-49A4-9475-764F1F041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82425F-BD0D-4D8E-A032-615EB6CC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45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3E02485-D8BA-4C91-BF33-67D0416A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2E8CC7-87DD-43FA-AB0B-5892A311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690335-82B1-4B3C-9527-71CCE6CB1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5B2912-BC93-460A-9DFF-59F9383A94D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0F7E18-C23C-4476-8975-C14995D29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99FDF6-F2DA-4EE8-A1CC-E56DE709B6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089A5-44AE-4E27-99AF-C91AB6BB1A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95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16" userDrawn="1">
          <p15:clr>
            <a:srgbClr val="F26B43"/>
          </p15:clr>
        </p15:guide>
        <p15:guide id="4" pos="7256" userDrawn="1">
          <p15:clr>
            <a:srgbClr val="F26B43"/>
          </p15:clr>
        </p15:guide>
        <p15:guide id="5" orient="horz" pos="648" userDrawn="1">
          <p15:clr>
            <a:srgbClr val="F26B43"/>
          </p15:clr>
        </p15:guide>
        <p15:guide id="6" orient="horz" pos="712" userDrawn="1">
          <p15:clr>
            <a:srgbClr val="F26B43"/>
          </p15:clr>
        </p15:guide>
        <p15:guide id="7" orient="horz" pos="3928" userDrawn="1">
          <p15:clr>
            <a:srgbClr val="F26B43"/>
          </p15:clr>
        </p15:guide>
        <p15:guide id="8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A48201-0F89-431D-B81A-A551A3F43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6068" y="-2677933"/>
            <a:ext cx="6879865" cy="1219200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13EB8A-BD82-4429-A32B-B64D92C86046}"/>
              </a:ext>
            </a:extLst>
          </p:cNvPr>
          <p:cNvSpPr txBox="1"/>
          <p:nvPr/>
        </p:nvSpPr>
        <p:spPr>
          <a:xfrm>
            <a:off x="571829" y="1681836"/>
            <a:ext cx="106864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基于大语言模型的 </a:t>
            </a:r>
            <a:r>
              <a:rPr lang="en-US" altLang="zh-CN" sz="54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AI Native</a:t>
            </a:r>
            <a:r>
              <a:rPr lang="zh-CN" altLang="en-US" sz="54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事务管理工具研究与实现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D0F242-F5F4-444D-8A2B-5046B0D08C38}"/>
              </a:ext>
            </a:extLst>
          </p:cNvPr>
          <p:cNvSpPr txBox="1"/>
          <p:nvPr/>
        </p:nvSpPr>
        <p:spPr>
          <a:xfrm>
            <a:off x="3600490" y="4237438"/>
            <a:ext cx="4629151" cy="66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&lt;</a:t>
            </a:r>
            <a:r>
              <a:rPr lang="zh-CN" altLang="en-US" sz="2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专业：软件工程</a:t>
            </a:r>
            <a:r>
              <a:rPr lang="en-US" altLang="zh-CN" sz="28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&gt;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sym typeface="FZHei-B01S" panose="0201060103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312F8E-FE35-474C-8A10-E22C3C01F9AE}"/>
              </a:ext>
            </a:extLst>
          </p:cNvPr>
          <p:cNvSpPr txBox="1"/>
          <p:nvPr/>
        </p:nvSpPr>
        <p:spPr>
          <a:xfrm>
            <a:off x="3219480" y="3636745"/>
            <a:ext cx="5753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"</a:t>
            </a:r>
            <a:r>
              <a:rPr lang="zh-CN" altLang="en-US" sz="20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让软件理解用户，而不是让用户适应软件</a:t>
            </a:r>
            <a:r>
              <a:rPr lang="en-US" altLang="zh-CN" sz="20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"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F1D7A5-5B9D-48A5-B487-16926D10859D}"/>
              </a:ext>
            </a:extLst>
          </p:cNvPr>
          <p:cNvSpPr txBox="1"/>
          <p:nvPr/>
        </p:nvSpPr>
        <p:spPr>
          <a:xfrm>
            <a:off x="4024321" y="5215578"/>
            <a:ext cx="414335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答辩人：陶俊辉      导师：杨思路，刘茹文</a:t>
            </a:r>
          </a:p>
        </p:txBody>
      </p:sp>
    </p:spTree>
    <p:extLst>
      <p:ext uri="{BB962C8B-B14F-4D97-AF65-F5344CB8AC3E}">
        <p14:creationId xmlns:p14="http://schemas.microsoft.com/office/powerpoint/2010/main" val="132741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A0CD831C-B5C7-4E2B-8B54-717F9BA81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07594" y="-2726410"/>
            <a:ext cx="6976817" cy="1219200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13EB8A-BD82-4429-A32B-B64D92C86046}"/>
              </a:ext>
            </a:extLst>
          </p:cNvPr>
          <p:cNvSpPr txBox="1"/>
          <p:nvPr/>
        </p:nvSpPr>
        <p:spPr>
          <a:xfrm>
            <a:off x="9835528" y="483146"/>
            <a:ext cx="994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目录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312F8E-FE35-474C-8A10-E22C3C01F9AE}"/>
              </a:ext>
            </a:extLst>
          </p:cNvPr>
          <p:cNvSpPr txBox="1"/>
          <p:nvPr/>
        </p:nvSpPr>
        <p:spPr>
          <a:xfrm rot="5400000">
            <a:off x="10213411" y="2338901"/>
            <a:ext cx="1764896" cy="415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sym typeface="FZHei-B01S" panose="02010601030101010101" pitchFamily="2" charset="-122"/>
              </a:rPr>
              <a:t>CONTENTS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730DB179-83A5-4E49-9275-C3E52D9B5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968262"/>
            <a:ext cx="939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1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33B67699-FCBF-4F50-90ED-B1D9ADB7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1741043"/>
            <a:ext cx="939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2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E56B28D2-7B37-49BF-AEDC-417480C3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2543122"/>
            <a:ext cx="939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3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8A075770-E07B-4E9F-AAC2-534EAA231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3321691"/>
            <a:ext cx="939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4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2" name="Rectangle 26">
            <a:extLst>
              <a:ext uri="{FF2B5EF4-FFF2-40B4-BE49-F238E27FC236}">
                <a16:creationId xmlns:a16="http://schemas.microsoft.com/office/drawing/2014/main" id="{8E7BDAA1-22AE-430D-963A-5C6612E9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4100260"/>
            <a:ext cx="9398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5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3" name="TextBox 58">
            <a:extLst>
              <a:ext uri="{FF2B5EF4-FFF2-40B4-BE49-F238E27FC236}">
                <a16:creationId xmlns:a16="http://schemas.microsoft.com/office/drawing/2014/main" id="{D0248D32-946A-4259-BACF-A592671A5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8" y="1664104"/>
            <a:ext cx="2807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系统整体架构</a:t>
            </a:r>
          </a:p>
        </p:txBody>
      </p:sp>
      <p:sp>
        <p:nvSpPr>
          <p:cNvPr id="24" name="TextBox 59">
            <a:extLst>
              <a:ext uri="{FF2B5EF4-FFF2-40B4-BE49-F238E27FC236}">
                <a16:creationId xmlns:a16="http://schemas.microsoft.com/office/drawing/2014/main" id="{78F1F50E-7EE6-43D1-8B1D-319E7494E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8" y="891318"/>
            <a:ext cx="36703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项目背景与问题分析</a:t>
            </a:r>
          </a:p>
        </p:txBody>
      </p:sp>
      <p:sp>
        <p:nvSpPr>
          <p:cNvPr id="25" name="TextBox 68">
            <a:extLst>
              <a:ext uri="{FF2B5EF4-FFF2-40B4-BE49-F238E27FC236}">
                <a16:creationId xmlns:a16="http://schemas.microsoft.com/office/drawing/2014/main" id="{AD890ED1-5DBB-49D4-964F-2CDF30015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8" y="2436881"/>
            <a:ext cx="38159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大模型调用和处理流程</a:t>
            </a:r>
          </a:p>
        </p:txBody>
      </p:sp>
      <p:sp>
        <p:nvSpPr>
          <p:cNvPr id="26" name="TextBox 69">
            <a:extLst>
              <a:ext uri="{FF2B5EF4-FFF2-40B4-BE49-F238E27FC236}">
                <a16:creationId xmlns:a16="http://schemas.microsoft.com/office/drawing/2014/main" id="{06423489-3DAE-405A-A6E5-9594F2D15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8" y="3209658"/>
            <a:ext cx="33944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系统运行示例</a:t>
            </a:r>
          </a:p>
        </p:txBody>
      </p:sp>
      <p:sp>
        <p:nvSpPr>
          <p:cNvPr id="27" name="TextBox 70">
            <a:extLst>
              <a:ext uri="{FF2B5EF4-FFF2-40B4-BE49-F238E27FC236}">
                <a16:creationId xmlns:a16="http://schemas.microsoft.com/office/drawing/2014/main" id="{5BF47921-265A-463A-9C92-C3F5FCE38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7" y="3982435"/>
            <a:ext cx="32574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项目创新点</a:t>
            </a: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67DD4CA5-E195-9C2F-8DD2-A77B23FD4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496" y="4867254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</a:t>
            </a:r>
            <a:r>
              <a:rPr lang="en-US" altLang="zh-CN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6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3" name="TextBox 70">
            <a:extLst>
              <a:ext uri="{FF2B5EF4-FFF2-40B4-BE49-F238E27FC236}">
                <a16:creationId xmlns:a16="http://schemas.microsoft.com/office/drawing/2014/main" id="{EAE24CC7-5385-C59B-BEFC-72825ACC6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7" y="4755212"/>
            <a:ext cx="32574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已有成果展示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4AD849DF-6902-36BE-A79B-7A45921C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4575" y="5634248"/>
            <a:ext cx="861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Part </a:t>
            </a:r>
            <a:r>
              <a:rPr lang="en-US" altLang="zh-CN" sz="2400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7</a:t>
            </a:r>
            <a:endParaRPr lang="zh-CN" altLang="en-US" sz="2800" dirty="0">
              <a:solidFill>
                <a:schemeClr val="bg1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5" name="TextBox 70">
            <a:extLst>
              <a:ext uri="{FF2B5EF4-FFF2-40B4-BE49-F238E27FC236}">
                <a16:creationId xmlns:a16="http://schemas.microsoft.com/office/drawing/2014/main" id="{60959831-4FE0-1A07-D1C1-B9690E5B9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906" y="5515445"/>
            <a:ext cx="32574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项目规划与推进</a:t>
            </a:r>
          </a:p>
        </p:txBody>
      </p:sp>
    </p:spTree>
    <p:extLst>
      <p:ext uri="{BB962C8B-B14F-4D97-AF65-F5344CB8AC3E}">
        <p14:creationId xmlns:p14="http://schemas.microsoft.com/office/powerpoint/2010/main" val="12746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" grpId="0"/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6E2B89AC-5767-47B8-AA99-775D7556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研究背景与问题分析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BC6AE34E-DB84-4E45-BDC9-2FA45EA4640E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87C25559-B0F7-4C23-BCA1-F0B5107A8F5C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F1ACD6F-35EC-4F5B-8EF1-3E242A1F46C7}"/>
              </a:ext>
            </a:extLst>
          </p:cNvPr>
          <p:cNvGrpSpPr/>
          <p:nvPr/>
        </p:nvGrpSpPr>
        <p:grpSpPr>
          <a:xfrm>
            <a:off x="41536" y="2825769"/>
            <a:ext cx="4234070" cy="3095818"/>
            <a:chOff x="-73113" y="1393414"/>
            <a:chExt cx="4832832" cy="353361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D94336-F909-430A-86C9-9E79E9B749AC}"/>
                </a:ext>
              </a:extLst>
            </p:cNvPr>
            <p:cNvSpPr/>
            <p:nvPr/>
          </p:nvSpPr>
          <p:spPr>
            <a:xfrm>
              <a:off x="1226105" y="1393414"/>
              <a:ext cx="3533614" cy="3533614"/>
            </a:xfrm>
            <a:prstGeom prst="ellipse">
              <a:avLst/>
            </a:pr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0AAE60A-9F09-44E2-B2BD-6A2636DC3086}"/>
                </a:ext>
              </a:extLst>
            </p:cNvPr>
            <p:cNvSpPr/>
            <p:nvPr/>
          </p:nvSpPr>
          <p:spPr>
            <a:xfrm>
              <a:off x="1440264" y="1634987"/>
              <a:ext cx="3105297" cy="31052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10">
              <a:extLst>
                <a:ext uri="{FF2B5EF4-FFF2-40B4-BE49-F238E27FC236}">
                  <a16:creationId xmlns:a16="http://schemas.microsoft.com/office/drawing/2014/main" id="{BCACD765-B36C-4C07-8264-E923BE367033}"/>
                </a:ext>
              </a:extLst>
            </p:cNvPr>
            <p:cNvSpPr/>
            <p:nvPr/>
          </p:nvSpPr>
          <p:spPr>
            <a:xfrm rot="19750320">
              <a:off x="-73113" y="4113203"/>
              <a:ext cx="1761086" cy="667320"/>
            </a:xfrm>
            <a:custGeom>
              <a:avLst/>
              <a:gdLst>
                <a:gd name="connsiteX0" fmla="*/ 0 w 1745415"/>
                <a:gd name="connsiteY0" fmla="*/ 0 h 425404"/>
                <a:gd name="connsiteX1" fmla="*/ 1745415 w 1745415"/>
                <a:gd name="connsiteY1" fmla="*/ 0 h 425404"/>
                <a:gd name="connsiteX2" fmla="*/ 1745415 w 1745415"/>
                <a:gd name="connsiteY2" fmla="*/ 425404 h 425404"/>
                <a:gd name="connsiteX3" fmla="*/ 0 w 1745415"/>
                <a:gd name="connsiteY3" fmla="*/ 425404 h 425404"/>
                <a:gd name="connsiteX4" fmla="*/ 0 w 1745415"/>
                <a:gd name="connsiteY4" fmla="*/ 0 h 425404"/>
                <a:gd name="connsiteX0" fmla="*/ 2362 w 1745415"/>
                <a:gd name="connsiteY0" fmla="*/ 0 h 550333"/>
                <a:gd name="connsiteX1" fmla="*/ 1745415 w 1745415"/>
                <a:gd name="connsiteY1" fmla="*/ 124929 h 550333"/>
                <a:gd name="connsiteX2" fmla="*/ 1745415 w 1745415"/>
                <a:gd name="connsiteY2" fmla="*/ 550333 h 550333"/>
                <a:gd name="connsiteX3" fmla="*/ 0 w 1745415"/>
                <a:gd name="connsiteY3" fmla="*/ 550333 h 550333"/>
                <a:gd name="connsiteX4" fmla="*/ 2362 w 1745415"/>
                <a:gd name="connsiteY4" fmla="*/ 0 h 550333"/>
                <a:gd name="connsiteX0" fmla="*/ 18033 w 1761086"/>
                <a:gd name="connsiteY0" fmla="*/ 0 h 667320"/>
                <a:gd name="connsiteX1" fmla="*/ 1761086 w 1761086"/>
                <a:gd name="connsiteY1" fmla="*/ 124929 h 667320"/>
                <a:gd name="connsiteX2" fmla="*/ 1761086 w 1761086"/>
                <a:gd name="connsiteY2" fmla="*/ 550333 h 667320"/>
                <a:gd name="connsiteX3" fmla="*/ 0 w 1761086"/>
                <a:gd name="connsiteY3" fmla="*/ 667320 h 667320"/>
                <a:gd name="connsiteX4" fmla="*/ 18033 w 1761086"/>
                <a:gd name="connsiteY4" fmla="*/ 0 h 66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1086" h="667320">
                  <a:moveTo>
                    <a:pt x="18033" y="0"/>
                  </a:moveTo>
                  <a:lnTo>
                    <a:pt x="1761086" y="124929"/>
                  </a:lnTo>
                  <a:lnTo>
                    <a:pt x="1761086" y="550333"/>
                  </a:lnTo>
                  <a:lnTo>
                    <a:pt x="0" y="667320"/>
                  </a:lnTo>
                  <a:cubicBezTo>
                    <a:pt x="787" y="483876"/>
                    <a:pt x="17246" y="183444"/>
                    <a:pt x="18033" y="0"/>
                  </a:cubicBezTo>
                  <a:close/>
                </a:path>
              </a:pathLst>
            </a:cu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4E01678-032D-4E84-B8E8-0D99E2B9E886}"/>
              </a:ext>
            </a:extLst>
          </p:cNvPr>
          <p:cNvGrpSpPr/>
          <p:nvPr/>
        </p:nvGrpSpPr>
        <p:grpSpPr>
          <a:xfrm>
            <a:off x="1720966" y="1212819"/>
            <a:ext cx="5279604" cy="1553388"/>
            <a:chOff x="4420480" y="1346031"/>
            <a:chExt cx="4399670" cy="1294487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152D8B0-939C-4FA7-A095-257126912D2C}"/>
                </a:ext>
              </a:extLst>
            </p:cNvPr>
            <p:cNvSpPr/>
            <p:nvPr/>
          </p:nvSpPr>
          <p:spPr>
            <a:xfrm>
              <a:off x="4420480" y="1346031"/>
              <a:ext cx="583568" cy="583568"/>
            </a:xfrm>
            <a:prstGeom prst="ellipse">
              <a:avLst/>
            </a:prstGeom>
            <a:solidFill>
              <a:srgbClr val="0551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36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8A4FA011-7C8F-4802-876E-6CDF153521D0}"/>
                </a:ext>
              </a:extLst>
            </p:cNvPr>
            <p:cNvSpPr txBox="1"/>
            <p:nvPr/>
          </p:nvSpPr>
          <p:spPr>
            <a:xfrm>
              <a:off x="5148064" y="1436612"/>
              <a:ext cx="3672086" cy="1203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当前主流记账、日程、提醒类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APP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：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仍采用传统“表单式交互”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用户需要多次点击与填写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操作流程繁琐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学习成本较高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2559447-8C9F-416B-92D3-413F4C10821F}"/>
              </a:ext>
            </a:extLst>
          </p:cNvPr>
          <p:cNvGrpSpPr/>
          <p:nvPr/>
        </p:nvGrpSpPr>
        <p:grpSpPr>
          <a:xfrm>
            <a:off x="4132521" y="2979588"/>
            <a:ext cx="5279604" cy="724329"/>
            <a:chOff x="4420480" y="2355844"/>
            <a:chExt cx="4399670" cy="603606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73B720F-2EB3-477F-92CB-231D3613771E}"/>
                </a:ext>
              </a:extLst>
            </p:cNvPr>
            <p:cNvSpPr/>
            <p:nvPr/>
          </p:nvSpPr>
          <p:spPr>
            <a:xfrm>
              <a:off x="4420480" y="2355844"/>
              <a:ext cx="583568" cy="578466"/>
            </a:xfrm>
            <a:prstGeom prst="ellipse">
              <a:avLst/>
            </a:pr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6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A9FDAD5C-0DA9-404D-B7F4-3A9DB9EBE1F5}"/>
                </a:ext>
              </a:extLst>
            </p:cNvPr>
            <p:cNvSpPr txBox="1"/>
            <p:nvPr/>
          </p:nvSpPr>
          <p:spPr>
            <a:xfrm>
              <a:off x="5148064" y="2444725"/>
              <a:ext cx="3672086" cy="514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例如一次普通记账：打开应用→ 进入记账页→ 选择分类→ 输入金额→ 填写备注→ 点击保存通常需要 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5~6 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步操作。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D4D2990-B5D0-4999-B5E4-45D9D811DB95}"/>
              </a:ext>
            </a:extLst>
          </p:cNvPr>
          <p:cNvGrpSpPr/>
          <p:nvPr/>
        </p:nvGrpSpPr>
        <p:grpSpPr>
          <a:xfrm>
            <a:off x="4231061" y="4735565"/>
            <a:ext cx="5279604" cy="2109426"/>
            <a:chOff x="4420480" y="3360555"/>
            <a:chExt cx="4399670" cy="175785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D49EF70-5D5E-4E87-A95F-676D0FB56F2C}"/>
                </a:ext>
              </a:extLst>
            </p:cNvPr>
            <p:cNvSpPr/>
            <p:nvPr/>
          </p:nvSpPr>
          <p:spPr>
            <a:xfrm>
              <a:off x="4420480" y="3360555"/>
              <a:ext cx="583568" cy="583568"/>
            </a:xfrm>
            <a:prstGeom prst="ellipse">
              <a:avLst/>
            </a:prstGeom>
            <a:solidFill>
              <a:srgbClr val="0551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36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C7C9A3ED-D898-4BFB-84A6-734E168EC50E}"/>
                </a:ext>
              </a:extLst>
            </p:cNvPr>
            <p:cNvSpPr txBox="1"/>
            <p:nvPr/>
          </p:nvSpPr>
          <p:spPr>
            <a:xfrm>
              <a:off x="5148064" y="3452836"/>
              <a:ext cx="3672086" cy="1665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虽然微信、支付宝支持自动账单记录：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仅能识别平台内支付行为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无法理解自然语言输入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无法处理复合事务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无法完成日程、提醒等协同操作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例如：“今天午饭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35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元，明天下午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3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点开会”传统系统无法一次完成解析与处理。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18206DD4-C2A5-463B-A373-152E6FD9AFA4}"/>
              </a:ext>
            </a:extLst>
          </p:cNvPr>
          <p:cNvSpPr txBox="1"/>
          <p:nvPr/>
        </p:nvSpPr>
        <p:spPr>
          <a:xfrm flipH="1">
            <a:off x="2581850" y="986931"/>
            <a:ext cx="3300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当前事务类</a:t>
            </a:r>
            <a:r>
              <a:rPr lang="en-US" altLang="zh-CN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APP</a:t>
            </a:r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的核心问题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009F4EFE-5C7C-4186-A8DC-88385971B13B}"/>
              </a:ext>
            </a:extLst>
          </p:cNvPr>
          <p:cNvSpPr txBox="1"/>
          <p:nvPr/>
        </p:nvSpPr>
        <p:spPr>
          <a:xfrm flipH="1">
            <a:off x="5005362" y="2711022"/>
            <a:ext cx="18948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传统方式</a:t>
            </a:r>
          </a:p>
        </p:txBody>
      </p:sp>
      <p:sp>
        <p:nvSpPr>
          <p:cNvPr id="29" name="TextBox 13">
            <a:extLst>
              <a:ext uri="{FF2B5EF4-FFF2-40B4-BE49-F238E27FC236}">
                <a16:creationId xmlns:a16="http://schemas.microsoft.com/office/drawing/2014/main" id="{4F9B17B0-1039-4DE0-9CD3-1ABCAC81ABD8}"/>
              </a:ext>
            </a:extLst>
          </p:cNvPr>
          <p:cNvSpPr txBox="1"/>
          <p:nvPr/>
        </p:nvSpPr>
        <p:spPr>
          <a:xfrm flipH="1">
            <a:off x="5107490" y="4424669"/>
            <a:ext cx="3684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微信 </a:t>
            </a:r>
            <a:r>
              <a:rPr lang="en-US" altLang="zh-CN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/ </a:t>
            </a:r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支付宝自动记账的局限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BDD21CD-53C8-4E59-BADA-FB51AB10178B}"/>
              </a:ext>
            </a:extLst>
          </p:cNvPr>
          <p:cNvSpPr txBox="1"/>
          <p:nvPr/>
        </p:nvSpPr>
        <p:spPr>
          <a:xfrm flipH="1">
            <a:off x="1593503" y="1371374"/>
            <a:ext cx="98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sym typeface="华文隶书" panose="02010800040101010101" pitchFamily="2" charset="-122"/>
              </a:rPr>
              <a:t>01</a:t>
            </a: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63AD435C-DF7D-41AC-A64F-88492EB7250E}"/>
              </a:ext>
            </a:extLst>
          </p:cNvPr>
          <p:cNvSpPr txBox="1"/>
          <p:nvPr/>
        </p:nvSpPr>
        <p:spPr>
          <a:xfrm flipH="1">
            <a:off x="4008091" y="3143497"/>
            <a:ext cx="98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sym typeface="华文隶书" panose="02010800040101010101" pitchFamily="2" charset="-122"/>
              </a:rPr>
              <a:t>02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1CE59B05-435F-4702-9364-28E53EF86153}"/>
              </a:ext>
            </a:extLst>
          </p:cNvPr>
          <p:cNvSpPr txBox="1"/>
          <p:nvPr/>
        </p:nvSpPr>
        <p:spPr>
          <a:xfrm flipH="1">
            <a:off x="4104121" y="4903276"/>
            <a:ext cx="981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sym typeface="华文隶书" panose="02010800040101010101" pitchFamily="2" charset="-122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CE0F647-C29A-4950-8523-88A3F60BF902}"/>
              </a:ext>
            </a:extLst>
          </p:cNvPr>
          <p:cNvSpPr/>
          <p:nvPr/>
        </p:nvSpPr>
        <p:spPr>
          <a:xfrm>
            <a:off x="1367414" y="3919620"/>
            <a:ext cx="2765107" cy="1034101"/>
          </a:xfrm>
          <a:prstGeom prst="rect">
            <a:avLst/>
          </a:prstGeom>
        </p:spPr>
        <p:txBody>
          <a:bodyPr wrap="square" lIns="109702" tIns="54850" rIns="109702" bIns="54850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本项目提出：“自然语言驱动”的</a:t>
            </a:r>
            <a:r>
              <a:rPr lang="en-US" altLang="zh-CN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AI Native</a:t>
            </a:r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事务管理模式</a:t>
            </a:r>
            <a:endParaRPr lang="en-US" altLang="zh-CN" sz="2000" b="1" dirty="0">
              <a:solidFill>
                <a:srgbClr val="333333"/>
              </a:solidFill>
              <a:sym typeface="思源黑体 CN Normal" panose="020B0400000000000000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115219-35A4-5DAD-155B-04096E005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519" y="892277"/>
            <a:ext cx="2252524" cy="50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18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9667-074C-9FEA-3463-2532F236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37305ABE-E9C3-438F-9D9D-739982148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系统整体架构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B62E040D-52E7-3979-7592-0774559E288C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B0F24D86-4C50-CC05-D8C4-4AFA429C2607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DDBBAFE-F0F7-2489-3C00-79EE1CD6D780}"/>
              </a:ext>
            </a:extLst>
          </p:cNvPr>
          <p:cNvGrpSpPr/>
          <p:nvPr/>
        </p:nvGrpSpPr>
        <p:grpSpPr>
          <a:xfrm>
            <a:off x="965520" y="604869"/>
            <a:ext cx="10260960" cy="3962994"/>
            <a:chOff x="1004709" y="1601213"/>
            <a:chExt cx="10260960" cy="3962994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3ECF9B3D-8965-16A4-5E92-16990083924C}"/>
                </a:ext>
              </a:extLst>
            </p:cNvPr>
            <p:cNvSpPr/>
            <p:nvPr/>
          </p:nvSpPr>
          <p:spPr>
            <a:xfrm>
              <a:off x="3416977" y="1780240"/>
              <a:ext cx="1620000" cy="1620000"/>
            </a:xfrm>
            <a:prstGeom prst="ellipse">
              <a:avLst/>
            </a:prstGeom>
            <a:solidFill>
              <a:srgbClr val="05516B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E35B89C-AA0A-0CBD-50E7-56EF6749F2B3}"/>
                </a:ext>
              </a:extLst>
            </p:cNvPr>
            <p:cNvSpPr/>
            <p:nvPr/>
          </p:nvSpPr>
          <p:spPr>
            <a:xfrm>
              <a:off x="1292741" y="3944207"/>
              <a:ext cx="1620000" cy="1620000"/>
            </a:xfrm>
            <a:prstGeom prst="ellipse">
              <a:avLst/>
            </a:prstGeom>
            <a:solidFill>
              <a:srgbClr val="235C86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622C0A0-93DC-264F-70E8-622A0F678C63}"/>
                </a:ext>
              </a:extLst>
            </p:cNvPr>
            <p:cNvSpPr/>
            <p:nvPr/>
          </p:nvSpPr>
          <p:spPr>
            <a:xfrm>
              <a:off x="7424745" y="1780240"/>
              <a:ext cx="1620000" cy="1620000"/>
            </a:xfrm>
            <a:prstGeom prst="ellipse">
              <a:avLst/>
            </a:prstGeom>
            <a:solidFill>
              <a:srgbClr val="05516B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84AEF00-99A6-B51B-ECC7-78F6FEE3FCDC}"/>
                </a:ext>
              </a:extLst>
            </p:cNvPr>
            <p:cNvSpPr/>
            <p:nvPr/>
          </p:nvSpPr>
          <p:spPr>
            <a:xfrm>
              <a:off x="5349869" y="3944207"/>
              <a:ext cx="1620000" cy="1620000"/>
            </a:xfrm>
            <a:prstGeom prst="ellipse">
              <a:avLst/>
            </a:prstGeom>
            <a:solidFill>
              <a:srgbClr val="235C86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7DFF32C-A849-8A67-B0C7-E4CB2D82F7A8}"/>
                </a:ext>
              </a:extLst>
            </p:cNvPr>
            <p:cNvSpPr/>
            <p:nvPr/>
          </p:nvSpPr>
          <p:spPr>
            <a:xfrm>
              <a:off x="9357637" y="3944207"/>
              <a:ext cx="1620000" cy="1620000"/>
            </a:xfrm>
            <a:prstGeom prst="ellipse">
              <a:avLst/>
            </a:prstGeom>
            <a:solidFill>
              <a:srgbClr val="235C86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5DD9F1F-1709-C2D9-AEC4-092931EB786A}"/>
                </a:ext>
              </a:extLst>
            </p:cNvPr>
            <p:cNvSpPr/>
            <p:nvPr/>
          </p:nvSpPr>
          <p:spPr>
            <a:xfrm>
              <a:off x="1004709" y="4988143"/>
              <a:ext cx="576064" cy="576064"/>
            </a:xfrm>
            <a:prstGeom prst="ellipse">
              <a:avLst/>
            </a:prstGeom>
            <a:solidFill>
              <a:srgbClr val="235C86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01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CA30F98-1810-88A1-BC12-FAD19ADD6453}"/>
                </a:ext>
              </a:extLst>
            </p:cNvPr>
            <p:cNvSpPr/>
            <p:nvPr/>
          </p:nvSpPr>
          <p:spPr>
            <a:xfrm>
              <a:off x="5061837" y="4988143"/>
              <a:ext cx="576064" cy="576064"/>
            </a:xfrm>
            <a:prstGeom prst="ellipse">
              <a:avLst/>
            </a:prstGeom>
            <a:solidFill>
              <a:srgbClr val="235C86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3436AEE-87F4-9A4F-43D9-F7D643983E19}"/>
                </a:ext>
              </a:extLst>
            </p:cNvPr>
            <p:cNvSpPr/>
            <p:nvPr/>
          </p:nvSpPr>
          <p:spPr>
            <a:xfrm>
              <a:off x="10689605" y="4988143"/>
              <a:ext cx="576064" cy="576064"/>
            </a:xfrm>
            <a:prstGeom prst="ellipse">
              <a:avLst/>
            </a:prstGeom>
            <a:solidFill>
              <a:srgbClr val="235C86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R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05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9BC29D1-EA88-E609-0151-DEC6167E92E9}"/>
                </a:ext>
              </a:extLst>
            </p:cNvPr>
            <p:cNvSpPr/>
            <p:nvPr/>
          </p:nvSpPr>
          <p:spPr>
            <a:xfrm>
              <a:off x="4633033" y="1601213"/>
              <a:ext cx="576064" cy="576064"/>
            </a:xfrm>
            <a:prstGeom prst="ellipse">
              <a:avLst/>
            </a:prstGeom>
            <a:solidFill>
              <a:srgbClr val="05516B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B989BA4-3F1D-935A-5076-71F57DCEA6EF}"/>
                </a:ext>
              </a:extLst>
            </p:cNvPr>
            <p:cNvSpPr/>
            <p:nvPr/>
          </p:nvSpPr>
          <p:spPr>
            <a:xfrm>
              <a:off x="7280729" y="1601213"/>
              <a:ext cx="576064" cy="576064"/>
            </a:xfrm>
            <a:prstGeom prst="ellipse">
              <a:avLst/>
            </a:prstGeom>
            <a:solidFill>
              <a:srgbClr val="05516B"/>
            </a:solidFill>
            <a:ln w="254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lang="en-US" altLang="zh-CN" sz="2000" b="1" dirty="0">
                  <a:solidFill>
                    <a:schemeClr val="bg1"/>
                  </a:solidFill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044C5B6-4D50-261A-DDC1-532EBCE10345}"/>
                </a:ext>
              </a:extLst>
            </p:cNvPr>
            <p:cNvGrpSpPr/>
            <p:nvPr/>
          </p:nvGrpSpPr>
          <p:grpSpPr>
            <a:xfrm>
              <a:off x="2675497" y="3231276"/>
              <a:ext cx="918596" cy="963238"/>
              <a:chOff x="2675497" y="3358613"/>
              <a:chExt cx="918596" cy="963238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62A8FC8D-C18B-5C58-347B-A192D4A15C1D}"/>
                  </a:ext>
                </a:extLst>
              </p:cNvPr>
              <p:cNvCxnSpPr>
                <a:stCxn id="8" idx="7"/>
                <a:endCxn id="19" idx="3"/>
              </p:cNvCxnSpPr>
              <p:nvPr/>
            </p:nvCxnSpPr>
            <p:spPr>
              <a:xfrm flipV="1">
                <a:off x="2675497" y="3507742"/>
                <a:ext cx="763154" cy="814109"/>
              </a:xfrm>
              <a:prstGeom prst="line">
                <a:avLst/>
              </a:prstGeom>
              <a:noFill/>
              <a:ln w="28575" cap="rnd" cmpd="sng" algn="ctr">
                <a:solidFill>
                  <a:srgbClr val="235C86"/>
                </a:solidFill>
                <a:prstDash val="sysDot"/>
              </a:ln>
              <a:effectLst/>
            </p:spPr>
          </p:cxn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8643A966-F51A-AE9F-D74A-EC1709FAA11C}"/>
                  </a:ext>
                </a:extLst>
              </p:cNvPr>
              <p:cNvSpPr/>
              <p:nvPr/>
            </p:nvSpPr>
            <p:spPr>
              <a:xfrm>
                <a:off x="3411981" y="3358613"/>
                <a:ext cx="182112" cy="174716"/>
              </a:xfrm>
              <a:prstGeom prst="ellipse">
                <a:avLst/>
              </a:prstGeom>
              <a:solidFill>
                <a:srgbClr val="235C86"/>
              </a:solidFill>
              <a:ln w="25400" cap="flat" cmpd="sng" algn="ctr">
                <a:solidFill>
                  <a:srgbClr val="235C86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6E425646-CE0E-9FFC-3213-5455148FF94B}"/>
                </a:ext>
              </a:extLst>
            </p:cNvPr>
            <p:cNvGrpSpPr/>
            <p:nvPr/>
          </p:nvGrpSpPr>
          <p:grpSpPr>
            <a:xfrm>
              <a:off x="4799733" y="3176059"/>
              <a:ext cx="889860" cy="878360"/>
              <a:chOff x="4799733" y="3303396"/>
              <a:chExt cx="889860" cy="878360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4E875C88-E986-D7B9-B3E8-E161BB8D8CD6}"/>
                  </a:ext>
                </a:extLst>
              </p:cNvPr>
              <p:cNvCxnSpPr>
                <a:stCxn id="5" idx="5"/>
                <a:endCxn id="22" idx="1"/>
              </p:cNvCxnSpPr>
              <p:nvPr/>
            </p:nvCxnSpPr>
            <p:spPr>
              <a:xfrm>
                <a:off x="4799733" y="3303396"/>
                <a:ext cx="734418" cy="729231"/>
              </a:xfrm>
              <a:prstGeom prst="line">
                <a:avLst/>
              </a:prstGeom>
              <a:noFill/>
              <a:ln w="28575" cap="rnd" cmpd="sng" algn="ctr">
                <a:solidFill>
                  <a:srgbClr val="05516B"/>
                </a:solidFill>
                <a:prstDash val="sysDot"/>
              </a:ln>
              <a:effectLst/>
            </p:spPr>
          </p:cxn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73D7437B-F3D5-6350-D0ED-1B64A01C538B}"/>
                  </a:ext>
                </a:extLst>
              </p:cNvPr>
              <p:cNvSpPr/>
              <p:nvPr/>
            </p:nvSpPr>
            <p:spPr>
              <a:xfrm>
                <a:off x="5507481" y="4007040"/>
                <a:ext cx="182112" cy="174716"/>
              </a:xfrm>
              <a:prstGeom prst="ellipse">
                <a:avLst/>
              </a:prstGeom>
              <a:solidFill>
                <a:srgbClr val="05516B"/>
              </a:solidFill>
              <a:ln w="25400" cap="flat" cmpd="sng" algn="ctr">
                <a:solidFill>
                  <a:srgbClr val="05516B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57D4200-7204-8A73-30A3-29B33A69FDE5}"/>
                </a:ext>
              </a:extLst>
            </p:cNvPr>
            <p:cNvGrpSpPr/>
            <p:nvPr/>
          </p:nvGrpSpPr>
          <p:grpSpPr>
            <a:xfrm>
              <a:off x="6732625" y="3231276"/>
              <a:ext cx="927192" cy="963238"/>
              <a:chOff x="6732625" y="3358613"/>
              <a:chExt cx="927192" cy="963238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8E18AA52-A22B-4395-6DCD-5530C450533E}"/>
                  </a:ext>
                </a:extLst>
              </p:cNvPr>
              <p:cNvCxnSpPr>
                <a:stCxn id="10" idx="7"/>
                <a:endCxn id="25" idx="3"/>
              </p:cNvCxnSpPr>
              <p:nvPr/>
            </p:nvCxnSpPr>
            <p:spPr>
              <a:xfrm flipV="1">
                <a:off x="6732625" y="3507742"/>
                <a:ext cx="771750" cy="814109"/>
              </a:xfrm>
              <a:prstGeom prst="line">
                <a:avLst/>
              </a:prstGeom>
              <a:noFill/>
              <a:ln w="28575" cap="rnd" cmpd="sng" algn="ctr">
                <a:solidFill>
                  <a:srgbClr val="235C86"/>
                </a:solidFill>
                <a:prstDash val="sysDot"/>
              </a:ln>
              <a:effectLst/>
            </p:spPr>
          </p:cxn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791C3D6E-A0A8-F452-302B-A15D4E689E04}"/>
                  </a:ext>
                </a:extLst>
              </p:cNvPr>
              <p:cNvSpPr/>
              <p:nvPr/>
            </p:nvSpPr>
            <p:spPr>
              <a:xfrm>
                <a:off x="7477705" y="3358613"/>
                <a:ext cx="182112" cy="174716"/>
              </a:xfrm>
              <a:prstGeom prst="ellipse">
                <a:avLst/>
              </a:prstGeom>
              <a:solidFill>
                <a:srgbClr val="235C86"/>
              </a:solidFill>
              <a:ln w="25400" cap="flat" cmpd="sng" algn="ctr">
                <a:solidFill>
                  <a:srgbClr val="235C86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32395989-51E5-2B36-7EC4-624B0F3F8F4E}"/>
                </a:ext>
              </a:extLst>
            </p:cNvPr>
            <p:cNvGrpSpPr/>
            <p:nvPr/>
          </p:nvGrpSpPr>
          <p:grpSpPr>
            <a:xfrm>
              <a:off x="8807501" y="3176059"/>
              <a:ext cx="804365" cy="878360"/>
              <a:chOff x="8807501" y="3303396"/>
              <a:chExt cx="804365" cy="878360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0B4AFA2B-0BA2-D190-1C5B-CD3105365C88}"/>
                  </a:ext>
                </a:extLst>
              </p:cNvPr>
              <p:cNvCxnSpPr>
                <a:stCxn id="9" idx="5"/>
                <a:endCxn id="28" idx="1"/>
              </p:cNvCxnSpPr>
              <p:nvPr/>
            </p:nvCxnSpPr>
            <p:spPr>
              <a:xfrm>
                <a:off x="8807501" y="3303396"/>
                <a:ext cx="648923" cy="729231"/>
              </a:xfrm>
              <a:prstGeom prst="line">
                <a:avLst/>
              </a:prstGeom>
              <a:noFill/>
              <a:ln w="28575" cap="rnd" cmpd="sng" algn="ctr">
                <a:solidFill>
                  <a:srgbClr val="05516B"/>
                </a:solidFill>
                <a:prstDash val="sysDot"/>
              </a:ln>
              <a:effectLst/>
            </p:spPr>
          </p:cxn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401A737-E8F2-E7C3-DC89-CAEEAADF9F46}"/>
                  </a:ext>
                </a:extLst>
              </p:cNvPr>
              <p:cNvSpPr/>
              <p:nvPr/>
            </p:nvSpPr>
            <p:spPr>
              <a:xfrm>
                <a:off x="9429754" y="4007040"/>
                <a:ext cx="182112" cy="174716"/>
              </a:xfrm>
              <a:prstGeom prst="ellipse">
                <a:avLst/>
              </a:prstGeom>
              <a:solidFill>
                <a:srgbClr val="05516B"/>
              </a:solidFill>
              <a:ln w="25400" cap="flat" cmpd="sng" algn="ctr">
                <a:solidFill>
                  <a:srgbClr val="05516B"/>
                </a:solidFill>
                <a:prstDash val="soli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70146DE-3724-5AED-3B01-EE956194B2B8}"/>
                </a:ext>
              </a:extLst>
            </p:cNvPr>
            <p:cNvSpPr txBox="1"/>
            <p:nvPr/>
          </p:nvSpPr>
          <p:spPr>
            <a:xfrm>
              <a:off x="1292741" y="4547454"/>
              <a:ext cx="162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用户输入层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BEF7265-2D6C-4403-E3D6-2FF75817911D}"/>
                </a:ext>
              </a:extLst>
            </p:cNvPr>
            <p:cNvSpPr txBox="1"/>
            <p:nvPr/>
          </p:nvSpPr>
          <p:spPr>
            <a:xfrm>
              <a:off x="5349869" y="4547454"/>
              <a:ext cx="162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CN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API</a:t>
              </a:r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服务层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630CDEF-71C7-B894-B86E-513E2193E0ED}"/>
                </a:ext>
              </a:extLst>
            </p:cNvPr>
            <p:cNvSpPr txBox="1"/>
            <p:nvPr/>
          </p:nvSpPr>
          <p:spPr>
            <a:xfrm>
              <a:off x="9290261" y="4547454"/>
              <a:ext cx="17499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校验与存储层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A797590-C4EE-D779-4B7D-00337AA028E5}"/>
                </a:ext>
              </a:extLst>
            </p:cNvPr>
            <p:cNvSpPr txBox="1"/>
            <p:nvPr/>
          </p:nvSpPr>
          <p:spPr>
            <a:xfrm>
              <a:off x="3438651" y="2410810"/>
              <a:ext cx="162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前端交互层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F2B2A19-A04C-3C41-FA5C-8AAC0DE689D4}"/>
                </a:ext>
              </a:extLst>
            </p:cNvPr>
            <p:cNvSpPr txBox="1"/>
            <p:nvPr/>
          </p:nvSpPr>
          <p:spPr>
            <a:xfrm>
              <a:off x="7348089" y="2154237"/>
              <a:ext cx="178387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en-US" altLang="zh-CN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AI</a:t>
              </a:r>
            </a:p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事务解析引擎</a:t>
              </a:r>
              <a:endParaRPr lang="en-US" altLang="zh-CN" sz="2000" b="1" dirty="0">
                <a:solidFill>
                  <a:schemeClr val="bg1"/>
                </a:solidFill>
                <a:sym typeface="思源黑体 CN Normal" panose="020B0400000000000000" pitchFamily="34" charset="-122"/>
              </a:endParaRPr>
            </a:p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（核心）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4A27D74-61F2-E3EA-4637-56832031447A}"/>
                </a:ext>
              </a:extLst>
            </p:cNvPr>
            <p:cNvSpPr/>
            <p:nvPr/>
          </p:nvSpPr>
          <p:spPr>
            <a:xfrm>
              <a:off x="5592994" y="2273043"/>
              <a:ext cx="1950717" cy="17216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Python Flask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RESTful API</a:t>
              </a: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sz="1200" b="1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负责</a:t>
              </a:r>
              <a:endParaRPr lang="en-US" altLang="zh-CN" sz="12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请求转发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数据调度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AI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服务调用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97D3CC1A-A14D-D03F-F542-97E8DF01D885}"/>
                </a:ext>
              </a:extLst>
            </p:cNvPr>
            <p:cNvSpPr/>
            <p:nvPr/>
          </p:nvSpPr>
          <p:spPr>
            <a:xfrm>
              <a:off x="1120200" y="3053269"/>
              <a:ext cx="1950717" cy="6136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自然语言文本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(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已实现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)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语音输入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613E89C2-547C-5A6D-3233-CD76172EDFE9}"/>
                </a:ext>
              </a:extLst>
            </p:cNvPr>
            <p:cNvSpPr/>
            <p:nvPr/>
          </p:nvSpPr>
          <p:spPr>
            <a:xfrm>
              <a:off x="3591156" y="3457761"/>
              <a:ext cx="1473200" cy="17216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Web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端：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React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TypeScript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 err="1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TailwindCSS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移动端：</a:t>
              </a:r>
              <a:b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</a:br>
              <a:r>
                <a:rPr lang="en-US" altLang="zh-CN" sz="1200" dirty="0" err="1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uni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-app</a:t>
              </a: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74D31382-DEE7-A24E-F0A5-3FB027514D2B}"/>
                </a:ext>
              </a:extLst>
            </p:cNvPr>
            <p:cNvSpPr/>
            <p:nvPr/>
          </p:nvSpPr>
          <p:spPr>
            <a:xfrm>
              <a:off x="7451827" y="3610745"/>
              <a:ext cx="1950717" cy="17216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调用：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DeepSeek</a:t>
              </a:r>
            </a:p>
            <a:p>
              <a:pPr lvl="0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核心能力：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多意图拆分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Prompt Workflow</a:t>
              </a: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时间解析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marL="171450" lvl="0" indent="-17145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JSON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结构化输出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FC1D6A86-03A5-EEBD-90CA-F1D0A2F1EDA1}"/>
              </a:ext>
            </a:extLst>
          </p:cNvPr>
          <p:cNvSpPr/>
          <p:nvPr/>
        </p:nvSpPr>
        <p:spPr>
          <a:xfrm>
            <a:off x="9651786" y="1780496"/>
            <a:ext cx="1950717" cy="116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JSON Schema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校验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Markdown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清洗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默认值补全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SQLite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持久化存储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9B27757-7132-E192-4765-B0F9B779BCDB}"/>
              </a:ext>
            </a:extLst>
          </p:cNvPr>
          <p:cNvSpPr/>
          <p:nvPr/>
        </p:nvSpPr>
        <p:spPr>
          <a:xfrm>
            <a:off x="1751111" y="5288811"/>
            <a:ext cx="2464754" cy="642302"/>
          </a:xfrm>
          <a:prstGeom prst="roundRect">
            <a:avLst/>
          </a:prstGeom>
          <a:noFill/>
          <a:ln w="38100">
            <a:solidFill>
              <a:srgbClr val="0551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3762"/>
              </a:solidFill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04813C3-9DBB-4E6C-D79C-76C2433B28C3}"/>
              </a:ext>
            </a:extLst>
          </p:cNvPr>
          <p:cNvSpPr/>
          <p:nvPr/>
        </p:nvSpPr>
        <p:spPr>
          <a:xfrm>
            <a:off x="501918" y="4838450"/>
            <a:ext cx="1620000" cy="1620000"/>
          </a:xfrm>
          <a:prstGeom prst="ellipse">
            <a:avLst/>
          </a:prstGeom>
          <a:solidFill>
            <a:srgbClr val="235C8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3762"/>
              </a:solidFill>
            </a:endParaRPr>
          </a:p>
        </p:txBody>
      </p:sp>
      <p:sp>
        <p:nvSpPr>
          <p:cNvPr id="40" name="background_281144">
            <a:extLst>
              <a:ext uri="{FF2B5EF4-FFF2-40B4-BE49-F238E27FC236}">
                <a16:creationId xmlns:a16="http://schemas.microsoft.com/office/drawing/2014/main" id="{0722E5C8-2B22-97BF-6028-805B2165DA5D}"/>
              </a:ext>
            </a:extLst>
          </p:cNvPr>
          <p:cNvSpPr>
            <a:spLocks noChangeAspect="1"/>
          </p:cNvSpPr>
          <p:nvPr/>
        </p:nvSpPr>
        <p:spPr>
          <a:xfrm>
            <a:off x="997874" y="5272400"/>
            <a:ext cx="753237" cy="752100"/>
          </a:xfrm>
          <a:custGeom>
            <a:avLst/>
            <a:gdLst>
              <a:gd name="T0" fmla="*/ 4551 w 6827"/>
              <a:gd name="T1" fmla="*/ 2276 h 6827"/>
              <a:gd name="T2" fmla="*/ 4551 w 6827"/>
              <a:gd name="T3" fmla="*/ 0 h 6827"/>
              <a:gd name="T4" fmla="*/ 0 w 6827"/>
              <a:gd name="T5" fmla="*/ 0 h 6827"/>
              <a:gd name="T6" fmla="*/ 0 w 6827"/>
              <a:gd name="T7" fmla="*/ 4551 h 6827"/>
              <a:gd name="T8" fmla="*/ 2276 w 6827"/>
              <a:gd name="T9" fmla="*/ 4551 h 6827"/>
              <a:gd name="T10" fmla="*/ 2276 w 6827"/>
              <a:gd name="T11" fmla="*/ 6827 h 6827"/>
              <a:gd name="T12" fmla="*/ 6827 w 6827"/>
              <a:gd name="T13" fmla="*/ 6827 h 6827"/>
              <a:gd name="T14" fmla="*/ 6827 w 6827"/>
              <a:gd name="T15" fmla="*/ 2276 h 6827"/>
              <a:gd name="T16" fmla="*/ 4551 w 6827"/>
              <a:gd name="T17" fmla="*/ 2276 h 6827"/>
              <a:gd name="T18" fmla="*/ 4137 w 6827"/>
              <a:gd name="T19" fmla="*/ 4551 h 6827"/>
              <a:gd name="T20" fmla="*/ 4551 w 6827"/>
              <a:gd name="T21" fmla="*/ 4551 h 6827"/>
              <a:gd name="T22" fmla="*/ 4551 w 6827"/>
              <a:gd name="T23" fmla="*/ 4137 h 6827"/>
              <a:gd name="T24" fmla="*/ 4965 w 6827"/>
              <a:gd name="T25" fmla="*/ 4137 h 6827"/>
              <a:gd name="T26" fmla="*/ 4965 w 6827"/>
              <a:gd name="T27" fmla="*/ 4965 h 6827"/>
              <a:gd name="T28" fmla="*/ 4137 w 6827"/>
              <a:gd name="T29" fmla="*/ 4965 h 6827"/>
              <a:gd name="T30" fmla="*/ 4137 w 6827"/>
              <a:gd name="T31" fmla="*/ 4551 h 6827"/>
              <a:gd name="T32" fmla="*/ 621 w 6827"/>
              <a:gd name="T33" fmla="*/ 3931 h 6827"/>
              <a:gd name="T34" fmla="*/ 621 w 6827"/>
              <a:gd name="T35" fmla="*/ 621 h 6827"/>
              <a:gd name="T36" fmla="*/ 3930 w 6827"/>
              <a:gd name="T37" fmla="*/ 621 h 6827"/>
              <a:gd name="T38" fmla="*/ 3930 w 6827"/>
              <a:gd name="T39" fmla="*/ 3930 h 6827"/>
              <a:gd name="T40" fmla="*/ 621 w 6827"/>
              <a:gd name="T41" fmla="*/ 3930 h 6827"/>
              <a:gd name="T42" fmla="*/ 621 w 6827"/>
              <a:gd name="T43" fmla="*/ 3931 h 6827"/>
              <a:gd name="T44" fmla="*/ 6206 w 6827"/>
              <a:gd name="T45" fmla="*/ 6206 h 6827"/>
              <a:gd name="T46" fmla="*/ 2896 w 6827"/>
              <a:gd name="T47" fmla="*/ 6206 h 6827"/>
              <a:gd name="T48" fmla="*/ 2896 w 6827"/>
              <a:gd name="T49" fmla="*/ 4551 h 6827"/>
              <a:gd name="T50" fmla="*/ 3517 w 6827"/>
              <a:gd name="T51" fmla="*/ 4551 h 6827"/>
              <a:gd name="T52" fmla="*/ 3517 w 6827"/>
              <a:gd name="T53" fmla="*/ 5585 h 6827"/>
              <a:gd name="T54" fmla="*/ 5585 w 6827"/>
              <a:gd name="T55" fmla="*/ 5585 h 6827"/>
              <a:gd name="T56" fmla="*/ 5585 w 6827"/>
              <a:gd name="T57" fmla="*/ 3517 h 6827"/>
              <a:gd name="T58" fmla="*/ 4551 w 6827"/>
              <a:gd name="T59" fmla="*/ 3517 h 6827"/>
              <a:gd name="T60" fmla="*/ 4551 w 6827"/>
              <a:gd name="T61" fmla="*/ 2896 h 6827"/>
              <a:gd name="T62" fmla="*/ 6206 w 6827"/>
              <a:gd name="T63" fmla="*/ 2896 h 6827"/>
              <a:gd name="T64" fmla="*/ 6206 w 6827"/>
              <a:gd name="T65" fmla="*/ 6206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827" h="6827">
                <a:moveTo>
                  <a:pt x="4551" y="2276"/>
                </a:moveTo>
                <a:lnTo>
                  <a:pt x="4551" y="0"/>
                </a:lnTo>
                <a:lnTo>
                  <a:pt x="0" y="0"/>
                </a:lnTo>
                <a:lnTo>
                  <a:pt x="0" y="4551"/>
                </a:lnTo>
                <a:lnTo>
                  <a:pt x="2276" y="4551"/>
                </a:lnTo>
                <a:lnTo>
                  <a:pt x="2276" y="6827"/>
                </a:lnTo>
                <a:lnTo>
                  <a:pt x="6827" y="6827"/>
                </a:lnTo>
                <a:lnTo>
                  <a:pt x="6827" y="2276"/>
                </a:lnTo>
                <a:lnTo>
                  <a:pt x="4551" y="2276"/>
                </a:lnTo>
                <a:close/>
                <a:moveTo>
                  <a:pt x="4137" y="4551"/>
                </a:moveTo>
                <a:lnTo>
                  <a:pt x="4551" y="4551"/>
                </a:lnTo>
                <a:lnTo>
                  <a:pt x="4551" y="4137"/>
                </a:lnTo>
                <a:lnTo>
                  <a:pt x="4965" y="4137"/>
                </a:lnTo>
                <a:lnTo>
                  <a:pt x="4965" y="4965"/>
                </a:lnTo>
                <a:lnTo>
                  <a:pt x="4137" y="4965"/>
                </a:lnTo>
                <a:lnTo>
                  <a:pt x="4137" y="4551"/>
                </a:lnTo>
                <a:close/>
                <a:moveTo>
                  <a:pt x="621" y="3931"/>
                </a:moveTo>
                <a:lnTo>
                  <a:pt x="621" y="621"/>
                </a:lnTo>
                <a:lnTo>
                  <a:pt x="3930" y="621"/>
                </a:lnTo>
                <a:lnTo>
                  <a:pt x="3930" y="3930"/>
                </a:lnTo>
                <a:lnTo>
                  <a:pt x="621" y="3930"/>
                </a:lnTo>
                <a:lnTo>
                  <a:pt x="621" y="3931"/>
                </a:lnTo>
                <a:close/>
                <a:moveTo>
                  <a:pt x="6206" y="6206"/>
                </a:moveTo>
                <a:lnTo>
                  <a:pt x="2896" y="6206"/>
                </a:lnTo>
                <a:lnTo>
                  <a:pt x="2896" y="4551"/>
                </a:lnTo>
                <a:lnTo>
                  <a:pt x="3517" y="4551"/>
                </a:lnTo>
                <a:lnTo>
                  <a:pt x="3517" y="5585"/>
                </a:lnTo>
                <a:lnTo>
                  <a:pt x="5585" y="5585"/>
                </a:lnTo>
                <a:lnTo>
                  <a:pt x="5585" y="3517"/>
                </a:lnTo>
                <a:lnTo>
                  <a:pt x="4551" y="3517"/>
                </a:lnTo>
                <a:lnTo>
                  <a:pt x="4551" y="2896"/>
                </a:lnTo>
                <a:lnTo>
                  <a:pt x="6206" y="2896"/>
                </a:lnTo>
                <a:lnTo>
                  <a:pt x="6206" y="620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30CD059-D820-CA38-BF6C-938D4CD2E37D}"/>
              </a:ext>
            </a:extLst>
          </p:cNvPr>
          <p:cNvSpPr/>
          <p:nvPr/>
        </p:nvSpPr>
        <p:spPr>
          <a:xfrm>
            <a:off x="2412593" y="5409907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架构特点</a:t>
            </a:r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173240A6-D3A9-E82D-754C-7DDD4D84A099}"/>
              </a:ext>
            </a:extLst>
          </p:cNvPr>
          <p:cNvSpPr txBox="1"/>
          <p:nvPr/>
        </p:nvSpPr>
        <p:spPr>
          <a:xfrm>
            <a:off x="4587360" y="4909604"/>
            <a:ext cx="4388960" cy="1583166"/>
          </a:xfrm>
          <a:prstGeom prst="rect">
            <a:avLst/>
          </a:prstGeom>
          <a:noFill/>
        </p:spPr>
        <p:txBody>
          <a:bodyPr wrap="square" lIns="91418" tIns="45708" rIns="91418" bIns="45708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单</a:t>
            </a:r>
            <a:r>
              <a:rPr lang="en-US" altLang="zh-CN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LLM</a:t>
            </a:r>
            <a:r>
              <a:rPr lang="zh-CN" altLang="en-US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＋模块化</a:t>
            </a:r>
            <a:r>
              <a:rPr lang="en-US" altLang="zh-CN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Prompt</a:t>
            </a:r>
            <a:r>
              <a:rPr lang="zh-CN" altLang="en-US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 </a:t>
            </a:r>
            <a:r>
              <a:rPr lang="en-US" altLang="zh-CN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Workflow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优势：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降低复杂度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提升稳定性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更适合事务场景工程化落地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55793CE-7CE7-813F-3E93-0DE99838A8CC}"/>
              </a:ext>
            </a:extLst>
          </p:cNvPr>
          <p:cNvCxnSpPr>
            <a:cxnSpLocks/>
          </p:cNvCxnSpPr>
          <p:nvPr/>
        </p:nvCxnSpPr>
        <p:spPr>
          <a:xfrm>
            <a:off x="4413430" y="5316382"/>
            <a:ext cx="0" cy="631112"/>
          </a:xfrm>
          <a:prstGeom prst="line">
            <a:avLst/>
          </a:prstGeom>
          <a:ln w="38100">
            <a:solidFill>
              <a:srgbClr val="235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33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7" grpId="0"/>
      <p:bldP spid="38" grpId="0" animBg="1"/>
      <p:bldP spid="39" grpId="0" animBg="1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17C97-431A-7DE2-09E0-F913F9D2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26F69BC1-7F2D-B9F5-ADFE-A622039E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大模型调用与处理流程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C8B21B5D-41B6-859A-1152-8F51CF6513A5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35AFF185-0A3F-3E46-435F-FD2BAC88409C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5" name="矩形: 圆角 484">
            <a:extLst>
              <a:ext uri="{FF2B5EF4-FFF2-40B4-BE49-F238E27FC236}">
                <a16:creationId xmlns:a16="http://schemas.microsoft.com/office/drawing/2014/main" id="{ECBC9726-9EB3-7BC2-4842-F1DA2075F018}"/>
              </a:ext>
            </a:extLst>
          </p:cNvPr>
          <p:cNvSpPr/>
          <p:nvPr/>
        </p:nvSpPr>
        <p:spPr>
          <a:xfrm>
            <a:off x="1228076" y="986980"/>
            <a:ext cx="1683293" cy="4208657"/>
          </a:xfrm>
          <a:prstGeom prst="roundRect">
            <a:avLst>
              <a:gd name="adj" fmla="val 4631"/>
            </a:avLst>
          </a:prstGeom>
          <a:noFill/>
          <a:ln w="12700"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EC18424B-F783-D0CE-12ED-082D7877ED97}"/>
              </a:ext>
            </a:extLst>
          </p:cNvPr>
          <p:cNvSpPr/>
          <p:nvPr/>
        </p:nvSpPr>
        <p:spPr>
          <a:xfrm>
            <a:off x="1324574" y="1143401"/>
            <a:ext cx="252000" cy="252000"/>
          </a:xfrm>
          <a:prstGeom prst="roundRect">
            <a:avLst/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495" name="文本框 494">
            <a:extLst>
              <a:ext uri="{FF2B5EF4-FFF2-40B4-BE49-F238E27FC236}">
                <a16:creationId xmlns:a16="http://schemas.microsoft.com/office/drawing/2014/main" id="{319E1A20-352D-0191-882D-3901C6E80D50}"/>
              </a:ext>
            </a:extLst>
          </p:cNvPr>
          <p:cNvSpPr txBox="1"/>
          <p:nvPr/>
        </p:nvSpPr>
        <p:spPr>
          <a:xfrm>
            <a:off x="1536764" y="1092199"/>
            <a:ext cx="10300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多意图拆分器</a:t>
            </a:r>
            <a:endParaRPr lang="en-US" altLang="zh-CN" sz="1100" b="1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  <a:p>
            <a:pPr algn="ctr"/>
            <a:r>
              <a:rPr lang="en-US" altLang="zh-CN" sz="1100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(Splitter)</a:t>
            </a:r>
            <a:endParaRPr lang="zh-CN" altLang="en-US" sz="1100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496" name="文本框 495">
            <a:extLst>
              <a:ext uri="{FF2B5EF4-FFF2-40B4-BE49-F238E27FC236}">
                <a16:creationId xmlns:a16="http://schemas.microsoft.com/office/drawing/2014/main" id="{B74E82D1-1D15-20A2-F6CE-1F070EEC878D}"/>
              </a:ext>
            </a:extLst>
          </p:cNvPr>
          <p:cNvSpPr txBox="1"/>
          <p:nvPr/>
        </p:nvSpPr>
        <p:spPr>
          <a:xfrm>
            <a:off x="1446790" y="1482458"/>
            <a:ext cx="10300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将混合输入拆分为独立事务单元</a:t>
            </a:r>
          </a:p>
        </p:txBody>
      </p:sp>
      <p:sp>
        <p:nvSpPr>
          <p:cNvPr id="497" name="对话气泡: 圆角矩形 496">
            <a:extLst>
              <a:ext uri="{FF2B5EF4-FFF2-40B4-BE49-F238E27FC236}">
                <a16:creationId xmlns:a16="http://schemas.microsoft.com/office/drawing/2014/main" id="{D75013AA-09C0-F0FD-6AF1-550AD01D033E}"/>
              </a:ext>
            </a:extLst>
          </p:cNvPr>
          <p:cNvSpPr/>
          <p:nvPr/>
        </p:nvSpPr>
        <p:spPr>
          <a:xfrm>
            <a:off x="1435410" y="2048448"/>
            <a:ext cx="1182113" cy="935387"/>
          </a:xfrm>
          <a:prstGeom prst="wedgeRoundRectCallout">
            <a:avLst>
              <a:gd name="adj1" fmla="val -33415"/>
              <a:gd name="adj2" fmla="val 62500"/>
              <a:gd name="adj3" fmla="val 16667"/>
            </a:avLst>
          </a:prstGeom>
          <a:noFill/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>
            <a:extLst>
              <a:ext uri="{FF2B5EF4-FFF2-40B4-BE49-F238E27FC236}">
                <a16:creationId xmlns:a16="http://schemas.microsoft.com/office/drawing/2014/main" id="{0EC9D4FC-307E-D7BA-2A85-9DA93C54D203}"/>
              </a:ext>
            </a:extLst>
          </p:cNvPr>
          <p:cNvSpPr txBox="1"/>
          <p:nvPr/>
        </p:nvSpPr>
        <p:spPr>
          <a:xfrm>
            <a:off x="1719414" y="2039250"/>
            <a:ext cx="7353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用户输入</a:t>
            </a:r>
          </a:p>
        </p:txBody>
      </p:sp>
      <p:sp>
        <p:nvSpPr>
          <p:cNvPr id="499" name="矩形: 圆角 498">
            <a:extLst>
              <a:ext uri="{FF2B5EF4-FFF2-40B4-BE49-F238E27FC236}">
                <a16:creationId xmlns:a16="http://schemas.microsoft.com/office/drawing/2014/main" id="{D9AE0C90-F1E0-52E0-166E-EEF7403F69B6}"/>
              </a:ext>
            </a:extLst>
          </p:cNvPr>
          <p:cNvSpPr/>
          <p:nvPr/>
        </p:nvSpPr>
        <p:spPr>
          <a:xfrm>
            <a:off x="1493895" y="2247780"/>
            <a:ext cx="1080000" cy="611401"/>
          </a:xfrm>
          <a:prstGeom prst="roundRect">
            <a:avLst>
              <a:gd name="adj" fmla="val 5856"/>
            </a:avLst>
          </a:prstGeom>
          <a:solidFill>
            <a:srgbClr val="E9EEF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“今天午饭</a:t>
            </a:r>
            <a:r>
              <a:rPr lang="en-US" altLang="zh-CN" sz="900" dirty="0">
                <a:solidFill>
                  <a:schemeClr val="tx1"/>
                </a:solidFill>
              </a:rPr>
              <a:t>35</a:t>
            </a:r>
            <a:r>
              <a:rPr lang="zh-CN" altLang="en-US" sz="900" dirty="0">
                <a:solidFill>
                  <a:schemeClr val="tx1"/>
                </a:solidFill>
              </a:rPr>
              <a:t>元，明天下午</a:t>
            </a:r>
            <a:r>
              <a:rPr lang="en-US" altLang="zh-CN" sz="900" dirty="0">
                <a:solidFill>
                  <a:schemeClr val="tx1"/>
                </a:solidFill>
              </a:rPr>
              <a:t>3</a:t>
            </a:r>
            <a:r>
              <a:rPr lang="zh-CN" altLang="en-US" sz="900" dirty="0">
                <a:solidFill>
                  <a:schemeClr val="tx1"/>
                </a:solidFill>
              </a:rPr>
              <a:t>点开会”</a:t>
            </a:r>
          </a:p>
        </p:txBody>
      </p:sp>
      <p:sp>
        <p:nvSpPr>
          <p:cNvPr id="500" name="箭头: 下 499">
            <a:extLst>
              <a:ext uri="{FF2B5EF4-FFF2-40B4-BE49-F238E27FC236}">
                <a16:creationId xmlns:a16="http://schemas.microsoft.com/office/drawing/2014/main" id="{27A8692C-9E38-F080-D9A2-B49E83C62057}"/>
              </a:ext>
            </a:extLst>
          </p:cNvPr>
          <p:cNvSpPr/>
          <p:nvPr/>
        </p:nvSpPr>
        <p:spPr>
          <a:xfrm>
            <a:off x="1915299" y="3095436"/>
            <a:ext cx="144000" cy="180000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1" name="矩形: 圆角 500">
            <a:extLst>
              <a:ext uri="{FF2B5EF4-FFF2-40B4-BE49-F238E27FC236}">
                <a16:creationId xmlns:a16="http://schemas.microsoft.com/office/drawing/2014/main" id="{77C9CC52-5391-F8E1-69DF-AD2C5B266AF8}"/>
              </a:ext>
            </a:extLst>
          </p:cNvPr>
          <p:cNvSpPr/>
          <p:nvPr/>
        </p:nvSpPr>
        <p:spPr>
          <a:xfrm>
            <a:off x="1343661" y="3336777"/>
            <a:ext cx="1381177" cy="1379701"/>
          </a:xfrm>
          <a:prstGeom prst="roundRect">
            <a:avLst>
              <a:gd name="adj" fmla="val 5856"/>
            </a:avLst>
          </a:prstGeom>
          <a:solidFill>
            <a:srgbClr val="E9EEF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02" name="文本框 501">
            <a:extLst>
              <a:ext uri="{FF2B5EF4-FFF2-40B4-BE49-F238E27FC236}">
                <a16:creationId xmlns:a16="http://schemas.microsoft.com/office/drawing/2014/main" id="{5C1275BE-06B6-A760-1BFA-0A2DFAF3DB01}"/>
              </a:ext>
            </a:extLst>
          </p:cNvPr>
          <p:cNvSpPr txBox="1"/>
          <p:nvPr/>
        </p:nvSpPr>
        <p:spPr>
          <a:xfrm>
            <a:off x="1515973" y="3366859"/>
            <a:ext cx="953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/>
              <a:t>拆分结果</a:t>
            </a:r>
          </a:p>
        </p:txBody>
      </p:sp>
      <p:sp>
        <p:nvSpPr>
          <p:cNvPr id="503" name="矩形: 圆角 502">
            <a:extLst>
              <a:ext uri="{FF2B5EF4-FFF2-40B4-BE49-F238E27FC236}">
                <a16:creationId xmlns:a16="http://schemas.microsoft.com/office/drawing/2014/main" id="{58B41EF9-13B7-81F6-41F3-D425B5F40DCD}"/>
              </a:ext>
            </a:extLst>
          </p:cNvPr>
          <p:cNvSpPr/>
          <p:nvPr/>
        </p:nvSpPr>
        <p:spPr>
          <a:xfrm>
            <a:off x="1465340" y="3705199"/>
            <a:ext cx="979627" cy="231700"/>
          </a:xfrm>
          <a:prstGeom prst="roundRect">
            <a:avLst/>
          </a:prstGeom>
          <a:solidFill>
            <a:schemeClr val="bg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</a:rPr>
              <a:t>午饭</a:t>
            </a:r>
            <a:r>
              <a:rPr lang="en-US" altLang="zh-CN" sz="800" dirty="0">
                <a:solidFill>
                  <a:schemeClr val="tx1"/>
                </a:solidFill>
              </a:rPr>
              <a:t>35</a:t>
            </a:r>
            <a:r>
              <a:rPr lang="zh-CN" altLang="en-US" sz="800" dirty="0">
                <a:solidFill>
                  <a:schemeClr val="tx1"/>
                </a:solidFill>
              </a:rPr>
              <a:t>元</a:t>
            </a:r>
          </a:p>
        </p:txBody>
      </p:sp>
      <p:sp>
        <p:nvSpPr>
          <p:cNvPr id="504" name="矩形: 圆角 503">
            <a:extLst>
              <a:ext uri="{FF2B5EF4-FFF2-40B4-BE49-F238E27FC236}">
                <a16:creationId xmlns:a16="http://schemas.microsoft.com/office/drawing/2014/main" id="{2C1EB68D-A179-738B-C76E-155A65BFEC7D}"/>
              </a:ext>
            </a:extLst>
          </p:cNvPr>
          <p:cNvSpPr/>
          <p:nvPr/>
        </p:nvSpPr>
        <p:spPr>
          <a:xfrm>
            <a:off x="1441231" y="4257158"/>
            <a:ext cx="979627" cy="231700"/>
          </a:xfrm>
          <a:prstGeom prst="roundRect">
            <a:avLst/>
          </a:prstGeom>
          <a:solidFill>
            <a:schemeClr val="bg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800" dirty="0">
                <a:solidFill>
                  <a:schemeClr val="tx1"/>
                </a:solidFill>
              </a:rPr>
              <a:t>明天下午</a:t>
            </a:r>
            <a:r>
              <a:rPr lang="en-US" altLang="zh-CN" sz="800" dirty="0">
                <a:solidFill>
                  <a:schemeClr val="tx1"/>
                </a:solidFill>
              </a:rPr>
              <a:t>3</a:t>
            </a:r>
            <a:r>
              <a:rPr lang="zh-CN" altLang="en-US" sz="800" dirty="0">
                <a:solidFill>
                  <a:schemeClr val="tx1"/>
                </a:solidFill>
              </a:rPr>
              <a:t>点开会</a:t>
            </a:r>
          </a:p>
        </p:txBody>
      </p:sp>
      <p:sp>
        <p:nvSpPr>
          <p:cNvPr id="513" name="文本框 512">
            <a:extLst>
              <a:ext uri="{FF2B5EF4-FFF2-40B4-BE49-F238E27FC236}">
                <a16:creationId xmlns:a16="http://schemas.microsoft.com/office/drawing/2014/main" id="{817CD101-CF10-0761-C2F5-F4CB44EB53FC}"/>
              </a:ext>
            </a:extLst>
          </p:cNvPr>
          <p:cNvSpPr txBox="1"/>
          <p:nvPr/>
        </p:nvSpPr>
        <p:spPr>
          <a:xfrm>
            <a:off x="1276641" y="1137112"/>
            <a:ext cx="4043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</a:rPr>
              <a:t>01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489" name="矩形: 圆角 488">
            <a:extLst>
              <a:ext uri="{FF2B5EF4-FFF2-40B4-BE49-F238E27FC236}">
                <a16:creationId xmlns:a16="http://schemas.microsoft.com/office/drawing/2014/main" id="{2B5EE521-51A8-9E4D-1046-37162DD48DC0}"/>
              </a:ext>
            </a:extLst>
          </p:cNvPr>
          <p:cNvSpPr/>
          <p:nvPr/>
        </p:nvSpPr>
        <p:spPr>
          <a:xfrm>
            <a:off x="3286840" y="1016355"/>
            <a:ext cx="1741530" cy="4208657"/>
          </a:xfrm>
          <a:prstGeom prst="roundRect">
            <a:avLst>
              <a:gd name="adj" fmla="val 4631"/>
            </a:avLst>
          </a:prstGeom>
          <a:noFill/>
          <a:ln w="12700"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: 圆角 489">
            <a:extLst>
              <a:ext uri="{FF2B5EF4-FFF2-40B4-BE49-F238E27FC236}">
                <a16:creationId xmlns:a16="http://schemas.microsoft.com/office/drawing/2014/main" id="{D8716444-3DD3-57F2-459B-669B334B135B}"/>
              </a:ext>
            </a:extLst>
          </p:cNvPr>
          <p:cNvSpPr/>
          <p:nvPr/>
        </p:nvSpPr>
        <p:spPr>
          <a:xfrm>
            <a:off x="3394172" y="1172776"/>
            <a:ext cx="252000" cy="252000"/>
          </a:xfrm>
          <a:prstGeom prst="roundRect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9" name="文本框 508">
            <a:extLst>
              <a:ext uri="{FF2B5EF4-FFF2-40B4-BE49-F238E27FC236}">
                <a16:creationId xmlns:a16="http://schemas.microsoft.com/office/drawing/2014/main" id="{5E1A4117-DE36-4713-FCEE-39D32AE04723}"/>
              </a:ext>
            </a:extLst>
          </p:cNvPr>
          <p:cNvSpPr txBox="1"/>
          <p:nvPr/>
        </p:nvSpPr>
        <p:spPr>
          <a:xfrm>
            <a:off x="3606362" y="1119866"/>
            <a:ext cx="12805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意图识别</a:t>
            </a:r>
            <a:endParaRPr lang="en-US" altLang="zh-CN" sz="1100" b="1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  <a:p>
            <a:pPr algn="ctr"/>
            <a:r>
              <a:rPr lang="en-US" altLang="zh-CN" sz="1100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(Intent Detector)</a:t>
            </a:r>
            <a:endParaRPr lang="zh-CN" altLang="en-US" sz="1100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514" name="文本框 513">
            <a:extLst>
              <a:ext uri="{FF2B5EF4-FFF2-40B4-BE49-F238E27FC236}">
                <a16:creationId xmlns:a16="http://schemas.microsoft.com/office/drawing/2014/main" id="{EAEE3A2A-4DAC-2BAB-01CA-38F293BB78E0}"/>
              </a:ext>
            </a:extLst>
          </p:cNvPr>
          <p:cNvSpPr txBox="1"/>
          <p:nvPr/>
        </p:nvSpPr>
        <p:spPr>
          <a:xfrm>
            <a:off x="3340166" y="1165642"/>
            <a:ext cx="3373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</a:rPr>
              <a:t>02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518" name="文本框 517">
            <a:extLst>
              <a:ext uri="{FF2B5EF4-FFF2-40B4-BE49-F238E27FC236}">
                <a16:creationId xmlns:a16="http://schemas.microsoft.com/office/drawing/2014/main" id="{E6D31B8B-E21E-B4E7-AF53-30E965AD0839}"/>
              </a:ext>
            </a:extLst>
          </p:cNvPr>
          <p:cNvSpPr txBox="1"/>
          <p:nvPr/>
        </p:nvSpPr>
        <p:spPr>
          <a:xfrm>
            <a:off x="3610126" y="1548505"/>
            <a:ext cx="1030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识别每个事务的操作类型</a:t>
            </a:r>
          </a:p>
        </p:txBody>
      </p:sp>
      <p:sp>
        <p:nvSpPr>
          <p:cNvPr id="519" name="矩形: 圆角 518">
            <a:extLst>
              <a:ext uri="{FF2B5EF4-FFF2-40B4-BE49-F238E27FC236}">
                <a16:creationId xmlns:a16="http://schemas.microsoft.com/office/drawing/2014/main" id="{CE00E6BB-AA96-9837-8EB9-550DC0D20E49}"/>
              </a:ext>
            </a:extLst>
          </p:cNvPr>
          <p:cNvSpPr/>
          <p:nvPr/>
        </p:nvSpPr>
        <p:spPr>
          <a:xfrm>
            <a:off x="3390467" y="1969089"/>
            <a:ext cx="1483804" cy="901913"/>
          </a:xfrm>
          <a:prstGeom prst="roundRect">
            <a:avLst>
              <a:gd name="adj" fmla="val 5856"/>
            </a:avLst>
          </a:prstGeom>
          <a:solidFill>
            <a:srgbClr val="E9EEF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20" name="椭圆 519">
            <a:extLst>
              <a:ext uri="{FF2B5EF4-FFF2-40B4-BE49-F238E27FC236}">
                <a16:creationId xmlns:a16="http://schemas.microsoft.com/office/drawing/2014/main" id="{17D9EBA1-A51C-D5B1-3384-BD23EF84829C}"/>
              </a:ext>
            </a:extLst>
          </p:cNvPr>
          <p:cNvSpPr/>
          <p:nvPr/>
        </p:nvSpPr>
        <p:spPr>
          <a:xfrm>
            <a:off x="3426401" y="2114681"/>
            <a:ext cx="310296" cy="310296"/>
          </a:xfrm>
          <a:prstGeom prst="ellipse">
            <a:avLst/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￥</a:t>
            </a:r>
          </a:p>
        </p:txBody>
      </p:sp>
      <p:sp>
        <p:nvSpPr>
          <p:cNvPr id="521" name="文本框 520">
            <a:extLst>
              <a:ext uri="{FF2B5EF4-FFF2-40B4-BE49-F238E27FC236}">
                <a16:creationId xmlns:a16="http://schemas.microsoft.com/office/drawing/2014/main" id="{3D478C77-C88B-BC11-76FF-E60A4EC9C033}"/>
              </a:ext>
            </a:extLst>
          </p:cNvPr>
          <p:cNvSpPr txBox="1"/>
          <p:nvPr/>
        </p:nvSpPr>
        <p:spPr>
          <a:xfrm>
            <a:off x="3723358" y="2048506"/>
            <a:ext cx="987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午饭</a:t>
            </a:r>
            <a:r>
              <a:rPr lang="en-US" altLang="zh-CN" sz="1200" b="1" dirty="0"/>
              <a:t>35</a:t>
            </a:r>
            <a:r>
              <a:rPr lang="zh-CN" altLang="en-US" sz="1200" b="1" dirty="0"/>
              <a:t>元</a:t>
            </a:r>
            <a:endParaRPr lang="en-US" altLang="zh-CN" sz="1200" b="1" dirty="0"/>
          </a:p>
          <a:p>
            <a:r>
              <a:rPr lang="zh-CN" altLang="en-US" sz="1200" dirty="0"/>
              <a:t>→</a:t>
            </a:r>
            <a:r>
              <a:rPr lang="en-US" altLang="zh-CN" sz="1200" dirty="0"/>
              <a:t>expense</a:t>
            </a:r>
          </a:p>
          <a:p>
            <a:r>
              <a:rPr lang="en-US" altLang="zh-CN" sz="1200" dirty="0"/>
              <a:t>   (</a:t>
            </a:r>
            <a:r>
              <a:rPr lang="zh-CN" altLang="en-US" sz="1200" dirty="0"/>
              <a:t>消费记账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522" name="矩形: 圆角 521">
            <a:extLst>
              <a:ext uri="{FF2B5EF4-FFF2-40B4-BE49-F238E27FC236}">
                <a16:creationId xmlns:a16="http://schemas.microsoft.com/office/drawing/2014/main" id="{547172CD-B1D8-D3E8-1942-7B43748DF807}"/>
              </a:ext>
            </a:extLst>
          </p:cNvPr>
          <p:cNvSpPr/>
          <p:nvPr/>
        </p:nvSpPr>
        <p:spPr>
          <a:xfrm>
            <a:off x="3325747" y="2986734"/>
            <a:ext cx="1646488" cy="959503"/>
          </a:xfrm>
          <a:prstGeom prst="roundRect">
            <a:avLst>
              <a:gd name="adj" fmla="val 5856"/>
            </a:avLst>
          </a:prstGeom>
          <a:solidFill>
            <a:srgbClr val="E9EEF1"/>
          </a:solidFill>
          <a:ln>
            <a:solidFill>
              <a:srgbClr val="EAEB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23" name="椭圆 522">
            <a:extLst>
              <a:ext uri="{FF2B5EF4-FFF2-40B4-BE49-F238E27FC236}">
                <a16:creationId xmlns:a16="http://schemas.microsoft.com/office/drawing/2014/main" id="{73D140F4-E6F8-CA88-CB01-AE853237D9A7}"/>
              </a:ext>
            </a:extLst>
          </p:cNvPr>
          <p:cNvSpPr/>
          <p:nvPr/>
        </p:nvSpPr>
        <p:spPr>
          <a:xfrm>
            <a:off x="3417616" y="3139193"/>
            <a:ext cx="349744" cy="349107"/>
          </a:xfrm>
          <a:prstGeom prst="ellipse">
            <a:avLst/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pic>
        <p:nvPicPr>
          <p:cNvPr id="525" name="图形 524" descr="日程表 纯色填充">
            <a:extLst>
              <a:ext uri="{FF2B5EF4-FFF2-40B4-BE49-F238E27FC236}">
                <a16:creationId xmlns:a16="http://schemas.microsoft.com/office/drawing/2014/main" id="{FEF6BC93-9BBE-5FE4-62F4-3B0555BF9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4281" y="3183633"/>
            <a:ext cx="232098" cy="232098"/>
          </a:xfrm>
          <a:prstGeom prst="rect">
            <a:avLst/>
          </a:prstGeom>
        </p:spPr>
      </p:pic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92D20448-4D4F-9269-4167-6817A8A5DA60}"/>
              </a:ext>
            </a:extLst>
          </p:cNvPr>
          <p:cNvSpPr/>
          <p:nvPr/>
        </p:nvSpPr>
        <p:spPr>
          <a:xfrm>
            <a:off x="5403841" y="1023825"/>
            <a:ext cx="1786000" cy="4208658"/>
          </a:xfrm>
          <a:prstGeom prst="roundRect">
            <a:avLst>
              <a:gd name="adj" fmla="val 4631"/>
            </a:avLst>
          </a:prstGeom>
          <a:noFill/>
          <a:ln w="12700"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矩形: 圆角 491">
            <a:extLst>
              <a:ext uri="{FF2B5EF4-FFF2-40B4-BE49-F238E27FC236}">
                <a16:creationId xmlns:a16="http://schemas.microsoft.com/office/drawing/2014/main" id="{326DCD13-39D6-2162-DA15-E49FA2EA7351}"/>
              </a:ext>
            </a:extLst>
          </p:cNvPr>
          <p:cNvSpPr/>
          <p:nvPr/>
        </p:nvSpPr>
        <p:spPr>
          <a:xfrm>
            <a:off x="5500338" y="1179407"/>
            <a:ext cx="252000" cy="250651"/>
          </a:xfrm>
          <a:prstGeom prst="roundRect">
            <a:avLst/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0" name="文本框 509">
            <a:extLst>
              <a:ext uri="{FF2B5EF4-FFF2-40B4-BE49-F238E27FC236}">
                <a16:creationId xmlns:a16="http://schemas.microsoft.com/office/drawing/2014/main" id="{3C61E3E1-6BBE-40BB-4D05-77F748552EB3}"/>
              </a:ext>
            </a:extLst>
          </p:cNvPr>
          <p:cNvSpPr txBox="1"/>
          <p:nvPr/>
        </p:nvSpPr>
        <p:spPr>
          <a:xfrm>
            <a:off x="5671068" y="1146544"/>
            <a:ext cx="1477536" cy="41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2">
                    <a:lumMod val="10000"/>
                  </a:schemeClr>
                </a:solidFill>
                <a:latin typeface="Noto Sans SC" pitchFamily="34" charset="0"/>
                <a:ea typeface="Noto Sans SC" pitchFamily="34" charset="-122"/>
              </a:rPr>
              <a:t>Prompt Workflow</a:t>
            </a:r>
          </a:p>
          <a:p>
            <a:pPr algn="ctr"/>
            <a:r>
              <a:rPr lang="zh-CN" altLang="en-US" sz="10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结构化提取</a:t>
            </a:r>
            <a:endParaRPr lang="en-US" altLang="zh-CN" sz="1000" b="1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515" name="文本框 514">
            <a:extLst>
              <a:ext uri="{FF2B5EF4-FFF2-40B4-BE49-F238E27FC236}">
                <a16:creationId xmlns:a16="http://schemas.microsoft.com/office/drawing/2014/main" id="{672317A0-119E-3241-58DB-77A3E1AEED23}"/>
              </a:ext>
            </a:extLst>
          </p:cNvPr>
          <p:cNvSpPr txBox="1"/>
          <p:nvPr/>
        </p:nvSpPr>
        <p:spPr>
          <a:xfrm>
            <a:off x="5470267" y="1169846"/>
            <a:ext cx="427346" cy="244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</a:rPr>
              <a:t>03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526" name="矩形: 圆角 525">
            <a:extLst>
              <a:ext uri="{FF2B5EF4-FFF2-40B4-BE49-F238E27FC236}">
                <a16:creationId xmlns:a16="http://schemas.microsoft.com/office/drawing/2014/main" id="{12AC1FE6-8735-A9FE-2AB8-6BAABFEEA5FE}"/>
              </a:ext>
            </a:extLst>
          </p:cNvPr>
          <p:cNvSpPr/>
          <p:nvPr/>
        </p:nvSpPr>
        <p:spPr>
          <a:xfrm>
            <a:off x="5510576" y="1916780"/>
            <a:ext cx="1425606" cy="943006"/>
          </a:xfrm>
          <a:prstGeom prst="roundRect">
            <a:avLst>
              <a:gd name="adj" fmla="val 5856"/>
            </a:avLst>
          </a:prstGeom>
          <a:solidFill>
            <a:srgbClr val="E9EEF1"/>
          </a:solidFill>
          <a:ln>
            <a:solidFill>
              <a:srgbClr val="235C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27" name="文本框 526">
            <a:extLst>
              <a:ext uri="{FF2B5EF4-FFF2-40B4-BE49-F238E27FC236}">
                <a16:creationId xmlns:a16="http://schemas.microsoft.com/office/drawing/2014/main" id="{A78B73C9-3937-C488-00E4-D3809F5A9E9D}"/>
              </a:ext>
            </a:extLst>
          </p:cNvPr>
          <p:cNvSpPr txBox="1"/>
          <p:nvPr/>
        </p:nvSpPr>
        <p:spPr>
          <a:xfrm>
            <a:off x="5707950" y="1539337"/>
            <a:ext cx="1150368" cy="33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通过</a:t>
            </a:r>
            <a:r>
              <a:rPr lang="en-US" altLang="zh-CN" sz="8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Prompt</a:t>
            </a:r>
            <a:r>
              <a:rPr lang="zh-CN" altLang="en-US" sz="8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模板输出标注</a:t>
            </a:r>
            <a:r>
              <a:rPr lang="en-US" altLang="zh-CN" sz="8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JSON</a:t>
            </a:r>
            <a:r>
              <a:rPr lang="zh-CN" altLang="en-US" sz="8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结构</a:t>
            </a: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4F7ABCDE-75D7-D78B-750F-12A111047CBA}"/>
              </a:ext>
            </a:extLst>
          </p:cNvPr>
          <p:cNvSpPr txBox="1"/>
          <p:nvPr/>
        </p:nvSpPr>
        <p:spPr>
          <a:xfrm>
            <a:off x="5727573" y="1985787"/>
            <a:ext cx="977892" cy="826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Few-shot Prompt</a:t>
            </a:r>
          </a:p>
          <a:p>
            <a:pPr algn="ctr"/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 Mode</a:t>
            </a:r>
          </a:p>
          <a:p>
            <a:pPr algn="ctr"/>
            <a:r>
              <a:rPr lang="en-US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Schema</a:t>
            </a:r>
            <a:r>
              <a:rPr lang="zh-CN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约束</a:t>
            </a:r>
          </a:p>
        </p:txBody>
      </p:sp>
      <p:sp>
        <p:nvSpPr>
          <p:cNvPr id="529" name="矩形: 圆角 528">
            <a:extLst>
              <a:ext uri="{FF2B5EF4-FFF2-40B4-BE49-F238E27FC236}">
                <a16:creationId xmlns:a16="http://schemas.microsoft.com/office/drawing/2014/main" id="{0C8B7DBE-D042-75A6-1753-3C42D022560F}"/>
              </a:ext>
            </a:extLst>
          </p:cNvPr>
          <p:cNvSpPr/>
          <p:nvPr/>
        </p:nvSpPr>
        <p:spPr>
          <a:xfrm>
            <a:off x="5448585" y="2929842"/>
            <a:ext cx="1713548" cy="2059502"/>
          </a:xfrm>
          <a:prstGeom prst="roundRect">
            <a:avLst>
              <a:gd name="adj" fmla="val 5856"/>
            </a:avLst>
          </a:prstGeom>
          <a:solidFill>
            <a:srgbClr val="111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E0D83717-A519-624F-931D-BC9BEDE26FCE}"/>
              </a:ext>
            </a:extLst>
          </p:cNvPr>
          <p:cNvSpPr txBox="1"/>
          <p:nvPr/>
        </p:nvSpPr>
        <p:spPr>
          <a:xfrm>
            <a:off x="5583605" y="3026850"/>
            <a:ext cx="1254329" cy="1982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:”expense”,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“amount”:35,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“category”:”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餐饮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-------------------------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:”schedule”,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“title”:”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开会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”,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“time”:”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明天下午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zh-CN" altLang="en-US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点</a:t>
            </a:r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r>
              <a:rPr lang="en-US" altLang="zh-CN" sz="95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zh-CN" altLang="en-US" sz="95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7" name="矩形: 圆角 486">
            <a:extLst>
              <a:ext uri="{FF2B5EF4-FFF2-40B4-BE49-F238E27FC236}">
                <a16:creationId xmlns:a16="http://schemas.microsoft.com/office/drawing/2014/main" id="{FF53D3A9-655A-AA69-BE86-2EB21DC764B5}"/>
              </a:ext>
            </a:extLst>
          </p:cNvPr>
          <p:cNvSpPr/>
          <p:nvPr/>
        </p:nvSpPr>
        <p:spPr>
          <a:xfrm>
            <a:off x="7553642" y="1023825"/>
            <a:ext cx="1602498" cy="4215771"/>
          </a:xfrm>
          <a:prstGeom prst="roundRect">
            <a:avLst>
              <a:gd name="adj" fmla="val 4631"/>
            </a:avLst>
          </a:prstGeom>
          <a:noFill/>
          <a:ln w="12700"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矩形: 圆角 487">
            <a:extLst>
              <a:ext uri="{FF2B5EF4-FFF2-40B4-BE49-F238E27FC236}">
                <a16:creationId xmlns:a16="http://schemas.microsoft.com/office/drawing/2014/main" id="{24485B96-06B1-5DCE-6CBA-70AF2BD6E656}"/>
              </a:ext>
            </a:extLst>
          </p:cNvPr>
          <p:cNvSpPr/>
          <p:nvPr/>
        </p:nvSpPr>
        <p:spPr>
          <a:xfrm>
            <a:off x="7650139" y="1180245"/>
            <a:ext cx="252000" cy="252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1" name="文本框 510">
            <a:extLst>
              <a:ext uri="{FF2B5EF4-FFF2-40B4-BE49-F238E27FC236}">
                <a16:creationId xmlns:a16="http://schemas.microsoft.com/office/drawing/2014/main" id="{A18EB1CF-7979-302B-5268-F8F1A858F6C8}"/>
              </a:ext>
            </a:extLst>
          </p:cNvPr>
          <p:cNvSpPr txBox="1"/>
          <p:nvPr/>
        </p:nvSpPr>
        <p:spPr>
          <a:xfrm>
            <a:off x="7855316" y="1129043"/>
            <a:ext cx="109715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混合式时间解析</a:t>
            </a:r>
            <a:endParaRPr lang="en-US" altLang="zh-CN" sz="1000" b="1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  <a:p>
            <a:pPr algn="ctr"/>
            <a:r>
              <a:rPr lang="en-US" altLang="zh-CN" sz="800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(Time Parser)</a:t>
            </a:r>
            <a:endParaRPr lang="zh-CN" altLang="en-US" sz="800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516" name="文本框 515">
            <a:extLst>
              <a:ext uri="{FF2B5EF4-FFF2-40B4-BE49-F238E27FC236}">
                <a16:creationId xmlns:a16="http://schemas.microsoft.com/office/drawing/2014/main" id="{471D03E5-651E-E0F4-9945-7FF89C2CEF0D}"/>
              </a:ext>
            </a:extLst>
          </p:cNvPr>
          <p:cNvSpPr txBox="1"/>
          <p:nvPr/>
        </p:nvSpPr>
        <p:spPr>
          <a:xfrm>
            <a:off x="7604998" y="1162327"/>
            <a:ext cx="40747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</a:rPr>
              <a:t>04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7CFF8B77-47EA-E740-5F51-A3093ECE81E0}"/>
              </a:ext>
            </a:extLst>
          </p:cNvPr>
          <p:cNvSpPr txBox="1"/>
          <p:nvPr/>
        </p:nvSpPr>
        <p:spPr>
          <a:xfrm>
            <a:off x="7779707" y="1599648"/>
            <a:ext cx="115036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LLM</a:t>
            </a:r>
            <a:r>
              <a:rPr lang="zh-CN" altLang="en-US" sz="12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语义理解 </a:t>
            </a:r>
            <a:r>
              <a:rPr lang="en-US" altLang="zh-CN" sz="12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+ </a:t>
            </a:r>
            <a:r>
              <a:rPr lang="zh-CN" altLang="en-US" sz="12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规则引擎计算</a:t>
            </a:r>
          </a:p>
        </p:txBody>
      </p:sp>
      <p:sp>
        <p:nvSpPr>
          <p:cNvPr id="532" name="矩形: 圆角 531">
            <a:extLst>
              <a:ext uri="{FF2B5EF4-FFF2-40B4-BE49-F238E27FC236}">
                <a16:creationId xmlns:a16="http://schemas.microsoft.com/office/drawing/2014/main" id="{6BE39F31-EA17-C3A2-5C11-C517D522C32C}"/>
              </a:ext>
            </a:extLst>
          </p:cNvPr>
          <p:cNvSpPr/>
          <p:nvPr/>
        </p:nvSpPr>
        <p:spPr>
          <a:xfrm>
            <a:off x="7655354" y="2452830"/>
            <a:ext cx="1247675" cy="276601"/>
          </a:xfrm>
          <a:prstGeom prst="roundRect">
            <a:avLst>
              <a:gd name="adj" fmla="val 5856"/>
            </a:avLst>
          </a:prstGeom>
          <a:solidFill>
            <a:srgbClr val="F1F8FE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“明天下午</a:t>
            </a:r>
            <a:r>
              <a:rPr lang="en-US" altLang="zh-CN" sz="1000" dirty="0">
                <a:solidFill>
                  <a:schemeClr val="tx1"/>
                </a:solidFill>
              </a:rPr>
              <a:t>3</a:t>
            </a:r>
            <a:r>
              <a:rPr lang="zh-CN" altLang="en-US" sz="1000" dirty="0">
                <a:solidFill>
                  <a:schemeClr val="tx1"/>
                </a:solidFill>
              </a:rPr>
              <a:t>点”</a:t>
            </a:r>
          </a:p>
        </p:txBody>
      </p:sp>
      <p:sp>
        <p:nvSpPr>
          <p:cNvPr id="533" name="箭头: 下 532">
            <a:extLst>
              <a:ext uri="{FF2B5EF4-FFF2-40B4-BE49-F238E27FC236}">
                <a16:creationId xmlns:a16="http://schemas.microsoft.com/office/drawing/2014/main" id="{4F763E0F-7B37-F799-E4BA-9BDFDC54B58A}"/>
              </a:ext>
            </a:extLst>
          </p:cNvPr>
          <p:cNvSpPr/>
          <p:nvPr/>
        </p:nvSpPr>
        <p:spPr>
          <a:xfrm>
            <a:off x="8230861" y="2852936"/>
            <a:ext cx="108000" cy="144000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235C86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椭圆 533">
            <a:extLst>
              <a:ext uri="{FF2B5EF4-FFF2-40B4-BE49-F238E27FC236}">
                <a16:creationId xmlns:a16="http://schemas.microsoft.com/office/drawing/2014/main" id="{1B8E2B71-D0E4-1816-399C-CF5311B98500}"/>
              </a:ext>
            </a:extLst>
          </p:cNvPr>
          <p:cNvSpPr/>
          <p:nvPr/>
        </p:nvSpPr>
        <p:spPr>
          <a:xfrm>
            <a:off x="7960859" y="3140649"/>
            <a:ext cx="252000" cy="252000"/>
          </a:xfrm>
          <a:prstGeom prst="ellipse">
            <a:avLst/>
          </a:prstGeom>
          <a:solidFill>
            <a:srgbClr val="F1F8FE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5" name="图形 534" descr="大脑 纯色填充">
            <a:extLst>
              <a:ext uri="{FF2B5EF4-FFF2-40B4-BE49-F238E27FC236}">
                <a16:creationId xmlns:a16="http://schemas.microsoft.com/office/drawing/2014/main" id="{A670809C-6BEF-BEDC-1E9F-FBEEACC1F4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7762" y="3165768"/>
            <a:ext cx="205200" cy="205200"/>
          </a:xfrm>
          <a:prstGeom prst="rect">
            <a:avLst/>
          </a:prstGeom>
        </p:spPr>
      </p:pic>
      <p:sp>
        <p:nvSpPr>
          <p:cNvPr id="536" name="文本框 535">
            <a:extLst>
              <a:ext uri="{FF2B5EF4-FFF2-40B4-BE49-F238E27FC236}">
                <a16:creationId xmlns:a16="http://schemas.microsoft.com/office/drawing/2014/main" id="{6303D653-D592-AC8F-AC25-CC10753C7B3E}"/>
              </a:ext>
            </a:extLst>
          </p:cNvPr>
          <p:cNvSpPr txBox="1"/>
          <p:nvPr/>
        </p:nvSpPr>
        <p:spPr>
          <a:xfrm>
            <a:off x="8173527" y="3138182"/>
            <a:ext cx="72950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05516B"/>
                </a:solidFill>
              </a:rPr>
              <a:t>LLM</a:t>
            </a:r>
            <a:r>
              <a:rPr lang="zh-CN" altLang="en-US" sz="1000" dirty="0">
                <a:solidFill>
                  <a:srgbClr val="05516B"/>
                </a:solidFill>
              </a:rPr>
              <a:t>理解</a:t>
            </a:r>
          </a:p>
        </p:txBody>
      </p:sp>
      <p:sp>
        <p:nvSpPr>
          <p:cNvPr id="537" name="椭圆 536">
            <a:extLst>
              <a:ext uri="{FF2B5EF4-FFF2-40B4-BE49-F238E27FC236}">
                <a16:creationId xmlns:a16="http://schemas.microsoft.com/office/drawing/2014/main" id="{96A8236D-4583-FB27-4226-EFE807444AE2}"/>
              </a:ext>
            </a:extLst>
          </p:cNvPr>
          <p:cNvSpPr/>
          <p:nvPr/>
        </p:nvSpPr>
        <p:spPr>
          <a:xfrm>
            <a:off x="7950135" y="3678165"/>
            <a:ext cx="252000" cy="252000"/>
          </a:xfrm>
          <a:prstGeom prst="ellipse">
            <a:avLst/>
          </a:prstGeom>
          <a:solidFill>
            <a:srgbClr val="F1F8FE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38" name="图形 537" descr="单级齿轮 纯色填充">
            <a:extLst>
              <a:ext uri="{FF2B5EF4-FFF2-40B4-BE49-F238E27FC236}">
                <a16:creationId xmlns:a16="http://schemas.microsoft.com/office/drawing/2014/main" id="{E0BB595E-1705-F5EB-DD96-A1E52A350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4258" y="3707128"/>
            <a:ext cx="205200" cy="205200"/>
          </a:xfrm>
          <a:prstGeom prst="rect">
            <a:avLst/>
          </a:prstGeom>
        </p:spPr>
      </p:pic>
      <p:sp>
        <p:nvSpPr>
          <p:cNvPr id="539" name="文本框 538">
            <a:extLst>
              <a:ext uri="{FF2B5EF4-FFF2-40B4-BE49-F238E27FC236}">
                <a16:creationId xmlns:a16="http://schemas.microsoft.com/office/drawing/2014/main" id="{D6DC3407-41C6-B339-9B17-C380CE391F5C}"/>
              </a:ext>
            </a:extLst>
          </p:cNvPr>
          <p:cNvSpPr txBox="1"/>
          <p:nvPr/>
        </p:nvSpPr>
        <p:spPr>
          <a:xfrm>
            <a:off x="8198875" y="3683944"/>
            <a:ext cx="72950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05516B"/>
                </a:solidFill>
              </a:rPr>
              <a:t>规则运算</a:t>
            </a:r>
          </a:p>
        </p:txBody>
      </p:sp>
      <p:pic>
        <p:nvPicPr>
          <p:cNvPr id="540" name="图形 539" descr="关闭 纯色填充">
            <a:extLst>
              <a:ext uri="{FF2B5EF4-FFF2-40B4-BE49-F238E27FC236}">
                <a16:creationId xmlns:a16="http://schemas.microsoft.com/office/drawing/2014/main" id="{9696A1C7-E7D4-B616-1835-47A0512968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608624">
            <a:off x="8207550" y="3376385"/>
            <a:ext cx="186495" cy="186495"/>
          </a:xfrm>
          <a:prstGeom prst="rect">
            <a:avLst/>
          </a:prstGeom>
        </p:spPr>
      </p:pic>
      <p:sp>
        <p:nvSpPr>
          <p:cNvPr id="541" name="矩形: 圆角 540">
            <a:extLst>
              <a:ext uri="{FF2B5EF4-FFF2-40B4-BE49-F238E27FC236}">
                <a16:creationId xmlns:a16="http://schemas.microsoft.com/office/drawing/2014/main" id="{998CCEEB-A8F7-EEF4-2702-66E415DCBBB8}"/>
              </a:ext>
            </a:extLst>
          </p:cNvPr>
          <p:cNvSpPr/>
          <p:nvPr/>
        </p:nvSpPr>
        <p:spPr>
          <a:xfrm>
            <a:off x="7664768" y="4420755"/>
            <a:ext cx="1319025" cy="581345"/>
          </a:xfrm>
          <a:prstGeom prst="roundRect">
            <a:avLst>
              <a:gd name="adj" fmla="val 5856"/>
            </a:avLst>
          </a:prstGeom>
          <a:solidFill>
            <a:srgbClr val="F1F8FE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64" name="箭头: 下 563">
            <a:extLst>
              <a:ext uri="{FF2B5EF4-FFF2-40B4-BE49-F238E27FC236}">
                <a16:creationId xmlns:a16="http://schemas.microsoft.com/office/drawing/2014/main" id="{CDD31D2F-2BE4-D3E3-039B-F8B3DDBE2A4F}"/>
              </a:ext>
            </a:extLst>
          </p:cNvPr>
          <p:cNvSpPr/>
          <p:nvPr/>
        </p:nvSpPr>
        <p:spPr>
          <a:xfrm>
            <a:off x="8230539" y="4052574"/>
            <a:ext cx="108000" cy="144000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235C86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3" name="矩形: 圆角 492">
            <a:extLst>
              <a:ext uri="{FF2B5EF4-FFF2-40B4-BE49-F238E27FC236}">
                <a16:creationId xmlns:a16="http://schemas.microsoft.com/office/drawing/2014/main" id="{C97915CF-E605-93B4-642A-1EFBC9560B7E}"/>
              </a:ext>
            </a:extLst>
          </p:cNvPr>
          <p:cNvSpPr/>
          <p:nvPr/>
        </p:nvSpPr>
        <p:spPr>
          <a:xfrm>
            <a:off x="9561630" y="1016712"/>
            <a:ext cx="1602498" cy="4215771"/>
          </a:xfrm>
          <a:prstGeom prst="roundRect">
            <a:avLst>
              <a:gd name="adj" fmla="val 4631"/>
            </a:avLst>
          </a:prstGeom>
          <a:noFill/>
          <a:ln w="12700"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矩形: 圆角 493">
            <a:extLst>
              <a:ext uri="{FF2B5EF4-FFF2-40B4-BE49-F238E27FC236}">
                <a16:creationId xmlns:a16="http://schemas.microsoft.com/office/drawing/2014/main" id="{9ADEE110-0995-632D-CC52-E50C0F59860A}"/>
              </a:ext>
            </a:extLst>
          </p:cNvPr>
          <p:cNvSpPr/>
          <p:nvPr/>
        </p:nvSpPr>
        <p:spPr>
          <a:xfrm>
            <a:off x="9658127" y="1173132"/>
            <a:ext cx="252000" cy="252000"/>
          </a:xfrm>
          <a:prstGeom prst="roundRect">
            <a:avLst/>
          </a:prstGeom>
          <a:solidFill>
            <a:srgbClr val="235C86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2" name="文本框 511">
            <a:extLst>
              <a:ext uri="{FF2B5EF4-FFF2-40B4-BE49-F238E27FC236}">
                <a16:creationId xmlns:a16="http://schemas.microsoft.com/office/drawing/2014/main" id="{B127A067-48ED-7303-F407-D7CB8883E04C}"/>
              </a:ext>
            </a:extLst>
          </p:cNvPr>
          <p:cNvSpPr txBox="1"/>
          <p:nvPr/>
        </p:nvSpPr>
        <p:spPr>
          <a:xfrm>
            <a:off x="9821377" y="1097453"/>
            <a:ext cx="136614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校验与存储</a:t>
            </a:r>
            <a:endParaRPr lang="en-US" altLang="zh-CN" sz="1100" b="1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  <a:p>
            <a:pPr algn="ctr"/>
            <a:r>
              <a:rPr lang="en-US" altLang="zh-CN" sz="1100" dirty="0">
                <a:solidFill>
                  <a:srgbClr val="1F2937"/>
                </a:solidFill>
                <a:latin typeface="Noto Sans SC" pitchFamily="34" charset="0"/>
                <a:ea typeface="Noto Sans SC" pitchFamily="34" charset="-122"/>
              </a:rPr>
              <a:t>(Validate &amp; Store)</a:t>
            </a:r>
            <a:endParaRPr lang="zh-CN" altLang="en-US" sz="1100" dirty="0">
              <a:solidFill>
                <a:srgbClr val="1F2937"/>
              </a:solidFill>
              <a:latin typeface="Noto Sans SC" pitchFamily="34" charset="0"/>
              <a:ea typeface="Noto Sans SC" pitchFamily="34" charset="-122"/>
            </a:endParaRPr>
          </a:p>
        </p:txBody>
      </p:sp>
      <p:sp>
        <p:nvSpPr>
          <p:cNvPr id="517" name="文本框 516">
            <a:extLst>
              <a:ext uri="{FF2B5EF4-FFF2-40B4-BE49-F238E27FC236}">
                <a16:creationId xmlns:a16="http://schemas.microsoft.com/office/drawing/2014/main" id="{D780FA66-A97E-A4DF-084F-A4A8FB387B5A}"/>
              </a:ext>
            </a:extLst>
          </p:cNvPr>
          <p:cNvSpPr txBox="1"/>
          <p:nvPr/>
        </p:nvSpPr>
        <p:spPr>
          <a:xfrm>
            <a:off x="9607629" y="1160037"/>
            <a:ext cx="40451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</a:rPr>
              <a:t>05</a:t>
            </a:r>
            <a:endParaRPr lang="zh-CN" altLang="en-US" sz="1000" b="1" dirty="0">
              <a:solidFill>
                <a:schemeClr val="bg1"/>
              </a:solidFill>
            </a:endParaRPr>
          </a:p>
        </p:txBody>
      </p:sp>
      <p:sp>
        <p:nvSpPr>
          <p:cNvPr id="543" name="文本框 542">
            <a:extLst>
              <a:ext uri="{FF2B5EF4-FFF2-40B4-BE49-F238E27FC236}">
                <a16:creationId xmlns:a16="http://schemas.microsoft.com/office/drawing/2014/main" id="{A0DFC135-D46F-1A7E-64D4-E6DD317CE602}"/>
              </a:ext>
            </a:extLst>
          </p:cNvPr>
          <p:cNvSpPr txBox="1"/>
          <p:nvPr/>
        </p:nvSpPr>
        <p:spPr>
          <a:xfrm>
            <a:off x="9645186" y="1566421"/>
            <a:ext cx="12104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6B7280"/>
                </a:solidFill>
                <a:latin typeface="Arial" pitchFamily="34" charset="0"/>
                <a:cs typeface="Arial" pitchFamily="34" charset="-120"/>
              </a:rPr>
              <a:t>多次校验保障输出稳定并完成数据持久化</a:t>
            </a:r>
          </a:p>
        </p:txBody>
      </p:sp>
      <p:sp>
        <p:nvSpPr>
          <p:cNvPr id="544" name="矩形: 圆角 543">
            <a:extLst>
              <a:ext uri="{FF2B5EF4-FFF2-40B4-BE49-F238E27FC236}">
                <a16:creationId xmlns:a16="http://schemas.microsoft.com/office/drawing/2014/main" id="{C38DD630-3A74-577A-58D0-55AA3AB01267}"/>
              </a:ext>
            </a:extLst>
          </p:cNvPr>
          <p:cNvSpPr/>
          <p:nvPr/>
        </p:nvSpPr>
        <p:spPr>
          <a:xfrm>
            <a:off x="9716946" y="2358929"/>
            <a:ext cx="1244780" cy="1582095"/>
          </a:xfrm>
          <a:prstGeom prst="roundRect">
            <a:avLst>
              <a:gd name="adj" fmla="val 5856"/>
            </a:avLst>
          </a:prstGeom>
          <a:noFill/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46" name="矩形: 圆角 545">
            <a:extLst>
              <a:ext uri="{FF2B5EF4-FFF2-40B4-BE49-F238E27FC236}">
                <a16:creationId xmlns:a16="http://schemas.microsoft.com/office/drawing/2014/main" id="{E2F61F59-C032-F6ED-DDB0-937A569D1CC6}"/>
              </a:ext>
            </a:extLst>
          </p:cNvPr>
          <p:cNvSpPr/>
          <p:nvPr/>
        </p:nvSpPr>
        <p:spPr>
          <a:xfrm>
            <a:off x="9816918" y="2441279"/>
            <a:ext cx="180000" cy="180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47" name="图形 546" descr="复选标记 纯色填充">
            <a:extLst>
              <a:ext uri="{FF2B5EF4-FFF2-40B4-BE49-F238E27FC236}">
                <a16:creationId xmlns:a16="http://schemas.microsoft.com/office/drawing/2014/main" id="{B72DAB75-4576-331B-8658-582A15AB86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7964" y="2456777"/>
            <a:ext cx="144000" cy="144000"/>
          </a:xfrm>
          <a:prstGeom prst="rect">
            <a:avLst/>
          </a:prstGeom>
        </p:spPr>
      </p:pic>
      <p:sp>
        <p:nvSpPr>
          <p:cNvPr id="549" name="矩形: 圆角 548">
            <a:extLst>
              <a:ext uri="{FF2B5EF4-FFF2-40B4-BE49-F238E27FC236}">
                <a16:creationId xmlns:a16="http://schemas.microsoft.com/office/drawing/2014/main" id="{AB5C08D5-8547-E113-7DA1-4BBB9F248C67}"/>
              </a:ext>
            </a:extLst>
          </p:cNvPr>
          <p:cNvSpPr/>
          <p:nvPr/>
        </p:nvSpPr>
        <p:spPr>
          <a:xfrm>
            <a:off x="9825734" y="2693657"/>
            <a:ext cx="180000" cy="180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0" name="图形 549" descr="复选标记 纯色填充">
            <a:extLst>
              <a:ext uri="{FF2B5EF4-FFF2-40B4-BE49-F238E27FC236}">
                <a16:creationId xmlns:a16="http://schemas.microsoft.com/office/drawing/2014/main" id="{6C45D989-7B98-086F-8214-4513756F2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6780" y="2709155"/>
            <a:ext cx="144000" cy="144000"/>
          </a:xfrm>
          <a:prstGeom prst="rect">
            <a:avLst/>
          </a:prstGeom>
        </p:spPr>
      </p:pic>
      <p:sp>
        <p:nvSpPr>
          <p:cNvPr id="551" name="矩形: 圆角 550">
            <a:extLst>
              <a:ext uri="{FF2B5EF4-FFF2-40B4-BE49-F238E27FC236}">
                <a16:creationId xmlns:a16="http://schemas.microsoft.com/office/drawing/2014/main" id="{F87042ED-DE61-21F6-606A-D08F88C47409}"/>
              </a:ext>
            </a:extLst>
          </p:cNvPr>
          <p:cNvSpPr/>
          <p:nvPr/>
        </p:nvSpPr>
        <p:spPr>
          <a:xfrm>
            <a:off x="9827970" y="3440161"/>
            <a:ext cx="180000" cy="180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3" name="矩形: 圆角 552">
            <a:extLst>
              <a:ext uri="{FF2B5EF4-FFF2-40B4-BE49-F238E27FC236}">
                <a16:creationId xmlns:a16="http://schemas.microsoft.com/office/drawing/2014/main" id="{2B5E02D7-3F93-3734-88C4-17136EF20AFB}"/>
              </a:ext>
            </a:extLst>
          </p:cNvPr>
          <p:cNvSpPr/>
          <p:nvPr/>
        </p:nvSpPr>
        <p:spPr>
          <a:xfrm>
            <a:off x="9824667" y="2938820"/>
            <a:ext cx="180000" cy="180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4" name="图形 553" descr="复选标记 纯色填充">
            <a:extLst>
              <a:ext uri="{FF2B5EF4-FFF2-40B4-BE49-F238E27FC236}">
                <a16:creationId xmlns:a16="http://schemas.microsoft.com/office/drawing/2014/main" id="{78E25872-726C-0440-D231-A1F96A598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45713" y="2954318"/>
            <a:ext cx="144000" cy="144000"/>
          </a:xfrm>
          <a:prstGeom prst="rect">
            <a:avLst/>
          </a:prstGeom>
        </p:spPr>
      </p:pic>
      <p:sp>
        <p:nvSpPr>
          <p:cNvPr id="556" name="矩形: 圆角 555">
            <a:extLst>
              <a:ext uri="{FF2B5EF4-FFF2-40B4-BE49-F238E27FC236}">
                <a16:creationId xmlns:a16="http://schemas.microsoft.com/office/drawing/2014/main" id="{DC533B71-7D7B-B565-6259-D5024411CD37}"/>
              </a:ext>
            </a:extLst>
          </p:cNvPr>
          <p:cNvSpPr/>
          <p:nvPr/>
        </p:nvSpPr>
        <p:spPr>
          <a:xfrm>
            <a:off x="9835994" y="3179948"/>
            <a:ext cx="180000" cy="180000"/>
          </a:xfrm>
          <a:prstGeom prst="roundRect">
            <a:avLst/>
          </a:prstGeom>
          <a:solidFill>
            <a:srgbClr val="05516B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57" name="图形 556" descr="复选标记 纯色填充">
            <a:extLst>
              <a:ext uri="{FF2B5EF4-FFF2-40B4-BE49-F238E27FC236}">
                <a16:creationId xmlns:a16="http://schemas.microsoft.com/office/drawing/2014/main" id="{2417DEE5-F7B8-4FAF-12AC-65F4083CA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57040" y="3195446"/>
            <a:ext cx="144000" cy="144000"/>
          </a:xfrm>
          <a:prstGeom prst="rect">
            <a:avLst/>
          </a:prstGeom>
        </p:spPr>
      </p:pic>
      <p:sp>
        <p:nvSpPr>
          <p:cNvPr id="558" name="文本框 557">
            <a:extLst>
              <a:ext uri="{FF2B5EF4-FFF2-40B4-BE49-F238E27FC236}">
                <a16:creationId xmlns:a16="http://schemas.microsoft.com/office/drawing/2014/main" id="{453ABE79-36E2-0C89-3C42-40CAE7422C81}"/>
              </a:ext>
            </a:extLst>
          </p:cNvPr>
          <p:cNvSpPr txBox="1"/>
          <p:nvPr/>
        </p:nvSpPr>
        <p:spPr>
          <a:xfrm>
            <a:off x="9958436" y="2423411"/>
            <a:ext cx="100329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清洗</a:t>
            </a:r>
          </a:p>
        </p:txBody>
      </p:sp>
      <p:sp>
        <p:nvSpPr>
          <p:cNvPr id="559" name="文本框 558">
            <a:extLst>
              <a:ext uri="{FF2B5EF4-FFF2-40B4-BE49-F238E27FC236}">
                <a16:creationId xmlns:a16="http://schemas.microsoft.com/office/drawing/2014/main" id="{AC9E0F79-0FD3-CF41-CEE4-2900B5F1E8CA}"/>
              </a:ext>
            </a:extLst>
          </p:cNvPr>
          <p:cNvSpPr txBox="1"/>
          <p:nvPr/>
        </p:nvSpPr>
        <p:spPr>
          <a:xfrm>
            <a:off x="9981964" y="2651387"/>
            <a:ext cx="84530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</a:rPr>
              <a:t>JSON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修复</a:t>
            </a:r>
          </a:p>
        </p:txBody>
      </p:sp>
      <p:sp>
        <p:nvSpPr>
          <p:cNvPr id="560" name="文本框 559">
            <a:extLst>
              <a:ext uri="{FF2B5EF4-FFF2-40B4-BE49-F238E27FC236}">
                <a16:creationId xmlns:a16="http://schemas.microsoft.com/office/drawing/2014/main" id="{B5A0F371-86F9-C6DF-888E-463ADBED7126}"/>
              </a:ext>
            </a:extLst>
          </p:cNvPr>
          <p:cNvSpPr txBox="1"/>
          <p:nvPr/>
        </p:nvSpPr>
        <p:spPr>
          <a:xfrm>
            <a:off x="10001040" y="2896457"/>
            <a:ext cx="84530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</a:rPr>
              <a:t>Schema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校验</a:t>
            </a:r>
          </a:p>
        </p:txBody>
      </p:sp>
      <p:sp>
        <p:nvSpPr>
          <p:cNvPr id="561" name="文本框 560">
            <a:extLst>
              <a:ext uri="{FF2B5EF4-FFF2-40B4-BE49-F238E27FC236}">
                <a16:creationId xmlns:a16="http://schemas.microsoft.com/office/drawing/2014/main" id="{C34283D4-E236-66AB-01F2-9080BB2D2531}"/>
              </a:ext>
            </a:extLst>
          </p:cNvPr>
          <p:cNvSpPr txBox="1"/>
          <p:nvPr/>
        </p:nvSpPr>
        <p:spPr>
          <a:xfrm>
            <a:off x="9986086" y="3151132"/>
            <a:ext cx="845302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默认值补全</a:t>
            </a:r>
          </a:p>
        </p:txBody>
      </p:sp>
      <p:sp>
        <p:nvSpPr>
          <p:cNvPr id="562" name="文本框 561">
            <a:extLst>
              <a:ext uri="{FF2B5EF4-FFF2-40B4-BE49-F238E27FC236}">
                <a16:creationId xmlns:a16="http://schemas.microsoft.com/office/drawing/2014/main" id="{80D1E8C8-85DA-686C-4466-2D86C8AF0DDD}"/>
              </a:ext>
            </a:extLst>
          </p:cNvPr>
          <p:cNvSpPr txBox="1"/>
          <p:nvPr/>
        </p:nvSpPr>
        <p:spPr>
          <a:xfrm>
            <a:off x="9996917" y="3422439"/>
            <a:ext cx="107583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自动</a:t>
            </a:r>
            <a:r>
              <a:rPr lang="en-US" altLang="zh-CN" sz="1000" dirty="0">
                <a:latin typeface="黑体" panose="02010609060101010101" pitchFamily="49" charset="-122"/>
                <a:ea typeface="黑体" panose="02010609060101010101" pitchFamily="49" charset="-122"/>
              </a:rPr>
              <a:t>Retry</a:t>
            </a:r>
            <a:r>
              <a: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rPr>
              <a:t>机制</a:t>
            </a:r>
          </a:p>
        </p:txBody>
      </p:sp>
      <p:pic>
        <p:nvPicPr>
          <p:cNvPr id="563" name="图形 562" descr="箭头循环 纯色填充">
            <a:extLst>
              <a:ext uri="{FF2B5EF4-FFF2-40B4-BE49-F238E27FC236}">
                <a16:creationId xmlns:a16="http://schemas.microsoft.com/office/drawing/2014/main" id="{E27F8393-1429-BF01-34D6-4399FF0FA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49739" y="3449331"/>
            <a:ext cx="144000" cy="144000"/>
          </a:xfrm>
          <a:prstGeom prst="rect">
            <a:avLst/>
          </a:prstGeom>
        </p:spPr>
      </p:pic>
      <p:sp>
        <p:nvSpPr>
          <p:cNvPr id="565" name="箭头: 下 564">
            <a:extLst>
              <a:ext uri="{FF2B5EF4-FFF2-40B4-BE49-F238E27FC236}">
                <a16:creationId xmlns:a16="http://schemas.microsoft.com/office/drawing/2014/main" id="{FBC7695A-B658-71D2-76C1-D96ECCDB3A80}"/>
              </a:ext>
            </a:extLst>
          </p:cNvPr>
          <p:cNvSpPr/>
          <p:nvPr/>
        </p:nvSpPr>
        <p:spPr>
          <a:xfrm>
            <a:off x="10196424" y="3988125"/>
            <a:ext cx="108000" cy="144000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235C86"/>
          </a:solidFill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6" name="矩形: 圆角 565">
            <a:extLst>
              <a:ext uri="{FF2B5EF4-FFF2-40B4-BE49-F238E27FC236}">
                <a16:creationId xmlns:a16="http://schemas.microsoft.com/office/drawing/2014/main" id="{0EED35A3-CFDE-B91C-C000-6233FD8D16C5}"/>
              </a:ext>
            </a:extLst>
          </p:cNvPr>
          <p:cNvSpPr/>
          <p:nvPr/>
        </p:nvSpPr>
        <p:spPr>
          <a:xfrm>
            <a:off x="9751251" y="4317608"/>
            <a:ext cx="1210476" cy="693228"/>
          </a:xfrm>
          <a:prstGeom prst="roundRect">
            <a:avLst>
              <a:gd name="adj" fmla="val 5856"/>
            </a:avLst>
          </a:prstGeom>
          <a:noFill/>
          <a:ln>
            <a:solidFill>
              <a:srgbClr val="B5B6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567" name="文本框 566">
            <a:extLst>
              <a:ext uri="{FF2B5EF4-FFF2-40B4-BE49-F238E27FC236}">
                <a16:creationId xmlns:a16="http://schemas.microsoft.com/office/drawing/2014/main" id="{AB1596F5-3AA5-1F17-09D4-CBE3CFE2E809}"/>
              </a:ext>
            </a:extLst>
          </p:cNvPr>
          <p:cNvSpPr txBox="1"/>
          <p:nvPr/>
        </p:nvSpPr>
        <p:spPr>
          <a:xfrm>
            <a:off x="9993739" y="4335756"/>
            <a:ext cx="967988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黑体" panose="02010609060101010101" pitchFamily="49" charset="-122"/>
                <a:ea typeface="黑体" panose="02010609060101010101" pitchFamily="49" charset="-122"/>
              </a:rPr>
              <a:t>SQLite</a:t>
            </a:r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数据库持久化存储</a:t>
            </a:r>
          </a:p>
        </p:txBody>
      </p:sp>
      <p:pic>
        <p:nvPicPr>
          <p:cNvPr id="568" name="图形 567" descr="数据库 纯色填充">
            <a:extLst>
              <a:ext uri="{FF2B5EF4-FFF2-40B4-BE49-F238E27FC236}">
                <a16:creationId xmlns:a16="http://schemas.microsoft.com/office/drawing/2014/main" id="{33EF4BF0-2089-6A09-DB7A-AC2853600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5726" y="4409862"/>
            <a:ext cx="389175" cy="389175"/>
          </a:xfrm>
          <a:prstGeom prst="rect">
            <a:avLst/>
          </a:prstGeom>
        </p:spPr>
      </p:pic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79F1EB0E-BFAC-5A86-EB6F-6C81CFC05B74}"/>
              </a:ext>
            </a:extLst>
          </p:cNvPr>
          <p:cNvGrpSpPr/>
          <p:nvPr/>
        </p:nvGrpSpPr>
        <p:grpSpPr>
          <a:xfrm>
            <a:off x="1560214" y="5317856"/>
            <a:ext cx="8426034" cy="546869"/>
            <a:chOff x="1560214" y="5317856"/>
            <a:chExt cx="8426034" cy="546869"/>
          </a:xfrm>
        </p:grpSpPr>
        <p:cxnSp>
          <p:nvCxnSpPr>
            <p:cNvPr id="573" name="直接连接符 572">
              <a:extLst>
                <a:ext uri="{FF2B5EF4-FFF2-40B4-BE49-F238E27FC236}">
                  <a16:creationId xmlns:a16="http://schemas.microsoft.com/office/drawing/2014/main" id="{44C07903-85D2-36F9-B58D-6FF794401F65}"/>
                </a:ext>
              </a:extLst>
            </p:cNvPr>
            <p:cNvCxnSpPr/>
            <p:nvPr/>
          </p:nvCxnSpPr>
          <p:spPr>
            <a:xfrm>
              <a:off x="5464328" y="5391638"/>
              <a:ext cx="0" cy="386465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4" name="组合 583">
              <a:extLst>
                <a:ext uri="{FF2B5EF4-FFF2-40B4-BE49-F238E27FC236}">
                  <a16:creationId xmlns:a16="http://schemas.microsoft.com/office/drawing/2014/main" id="{EDE6907C-5EB6-6CBD-F460-C033EBA364BA}"/>
                </a:ext>
              </a:extLst>
            </p:cNvPr>
            <p:cNvGrpSpPr/>
            <p:nvPr/>
          </p:nvGrpSpPr>
          <p:grpSpPr>
            <a:xfrm>
              <a:off x="1560214" y="5317856"/>
              <a:ext cx="8426034" cy="546869"/>
              <a:chOff x="1560214" y="5317856"/>
              <a:chExt cx="8426034" cy="546869"/>
            </a:xfrm>
          </p:grpSpPr>
          <p:sp>
            <p:nvSpPr>
              <p:cNvPr id="569" name="矩形: 圆角 568">
                <a:extLst>
                  <a:ext uri="{FF2B5EF4-FFF2-40B4-BE49-F238E27FC236}">
                    <a16:creationId xmlns:a16="http://schemas.microsoft.com/office/drawing/2014/main" id="{AA9756F1-225E-AD0E-060A-40BC5AC65759}"/>
                  </a:ext>
                </a:extLst>
              </p:cNvPr>
              <p:cNvSpPr/>
              <p:nvPr/>
            </p:nvSpPr>
            <p:spPr>
              <a:xfrm>
                <a:off x="1560214" y="5317856"/>
                <a:ext cx="8426034" cy="546869"/>
              </a:xfrm>
              <a:prstGeom prst="roundRect">
                <a:avLst/>
              </a:prstGeom>
              <a:noFill/>
              <a:ln>
                <a:solidFill>
                  <a:srgbClr val="05516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0" name="矩形: 圆角 569">
                <a:extLst>
                  <a:ext uri="{FF2B5EF4-FFF2-40B4-BE49-F238E27FC236}">
                    <a16:creationId xmlns:a16="http://schemas.microsoft.com/office/drawing/2014/main" id="{493DCA86-F336-FCF0-242B-182DB7BDC616}"/>
                  </a:ext>
                </a:extLst>
              </p:cNvPr>
              <p:cNvSpPr/>
              <p:nvPr/>
            </p:nvSpPr>
            <p:spPr>
              <a:xfrm>
                <a:off x="1725468" y="5455075"/>
                <a:ext cx="1357617" cy="286275"/>
              </a:xfrm>
              <a:prstGeom prst="roundRect">
                <a:avLst/>
              </a:prstGeom>
              <a:solidFill>
                <a:srgbClr val="235C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系统执行结果</a:t>
                </a:r>
              </a:p>
            </p:txBody>
          </p:sp>
          <p:sp>
            <p:nvSpPr>
              <p:cNvPr id="571" name="椭圆 570">
                <a:extLst>
                  <a:ext uri="{FF2B5EF4-FFF2-40B4-BE49-F238E27FC236}">
                    <a16:creationId xmlns:a16="http://schemas.microsoft.com/office/drawing/2014/main" id="{DA9C0D43-D21A-F1BD-9E78-E8D7B3AA0CA6}"/>
                  </a:ext>
                </a:extLst>
              </p:cNvPr>
              <p:cNvSpPr/>
              <p:nvPr/>
            </p:nvSpPr>
            <p:spPr>
              <a:xfrm>
                <a:off x="3178051" y="5436142"/>
                <a:ext cx="310296" cy="310296"/>
              </a:xfrm>
              <a:prstGeom prst="ellipse">
                <a:avLst/>
              </a:prstGeom>
              <a:solidFill>
                <a:srgbClr val="235C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￥</a:t>
                </a:r>
              </a:p>
            </p:txBody>
          </p:sp>
          <p:sp>
            <p:nvSpPr>
              <p:cNvPr id="572" name="文本框 571">
                <a:extLst>
                  <a:ext uri="{FF2B5EF4-FFF2-40B4-BE49-F238E27FC236}">
                    <a16:creationId xmlns:a16="http://schemas.microsoft.com/office/drawing/2014/main" id="{EDF359C2-CA66-36CE-4616-33B0309B326A}"/>
                  </a:ext>
                </a:extLst>
              </p:cNvPr>
              <p:cNvSpPr txBox="1"/>
              <p:nvPr/>
            </p:nvSpPr>
            <p:spPr>
              <a:xfrm>
                <a:off x="3501088" y="5436142"/>
                <a:ext cx="22913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/>
                  <a:t>已记录餐饮支出￥</a:t>
                </a:r>
                <a:r>
                  <a:rPr lang="en-US" altLang="zh-CN" sz="1100" dirty="0"/>
                  <a:t>35.00</a:t>
                </a:r>
                <a:endParaRPr lang="zh-CN" altLang="en-US" sz="1100" dirty="0"/>
              </a:p>
            </p:txBody>
          </p:sp>
          <p:pic>
            <p:nvPicPr>
              <p:cNvPr id="574" name="图形 573" descr="日程表 纯色填充">
                <a:extLst>
                  <a:ext uri="{FF2B5EF4-FFF2-40B4-BE49-F238E27FC236}">
                    <a16:creationId xmlns:a16="http://schemas.microsoft.com/office/drawing/2014/main" id="{CDD15A13-6A65-6570-5905-0545387AA9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5839458" y="5366818"/>
                <a:ext cx="415399" cy="415399"/>
              </a:xfrm>
              <a:prstGeom prst="rect">
                <a:avLst/>
              </a:prstGeom>
            </p:spPr>
          </p:pic>
          <p:sp>
            <p:nvSpPr>
              <p:cNvPr id="575" name="文本框 574">
                <a:extLst>
                  <a:ext uri="{FF2B5EF4-FFF2-40B4-BE49-F238E27FC236}">
                    <a16:creationId xmlns:a16="http://schemas.microsoft.com/office/drawing/2014/main" id="{431A6ACE-AACF-E07C-AA8C-246718543C72}"/>
                  </a:ext>
                </a:extLst>
              </p:cNvPr>
              <p:cNvSpPr txBox="1"/>
              <p:nvPr/>
            </p:nvSpPr>
            <p:spPr>
              <a:xfrm>
                <a:off x="6172089" y="5435533"/>
                <a:ext cx="229133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dirty="0"/>
                  <a:t>已创建会议日程</a:t>
                </a:r>
              </a:p>
            </p:txBody>
          </p:sp>
          <p:sp>
            <p:nvSpPr>
              <p:cNvPr id="576" name="矩形: 圆角 575">
                <a:extLst>
                  <a:ext uri="{FF2B5EF4-FFF2-40B4-BE49-F238E27FC236}">
                    <a16:creationId xmlns:a16="http://schemas.microsoft.com/office/drawing/2014/main" id="{61DEDCED-D0A1-56E5-54E1-D657E6EA6292}"/>
                  </a:ext>
                </a:extLst>
              </p:cNvPr>
              <p:cNvSpPr/>
              <p:nvPr/>
            </p:nvSpPr>
            <p:spPr>
              <a:xfrm>
                <a:off x="7596758" y="5393243"/>
                <a:ext cx="2300405" cy="351583"/>
              </a:xfrm>
              <a:prstGeom prst="roundRect">
                <a:avLst>
                  <a:gd name="adj" fmla="val 5856"/>
                </a:avLst>
              </a:prstGeom>
              <a:solidFill>
                <a:srgbClr val="0551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900" dirty="0">
                    <a:solidFill>
                      <a:schemeClr val="bg1"/>
                    </a:solidFill>
                  </a:rPr>
                  <a:t>自然语言处理→</a:t>
                </a:r>
                <a:r>
                  <a:rPr lang="en-US" altLang="zh-CN" sz="900" dirty="0">
                    <a:solidFill>
                      <a:schemeClr val="bg1"/>
                    </a:solidFill>
                  </a:rPr>
                  <a:t>AI</a:t>
                </a:r>
                <a:r>
                  <a:rPr lang="zh-CN" altLang="en-US" sz="900" dirty="0">
                    <a:solidFill>
                      <a:schemeClr val="bg1"/>
                    </a:solidFill>
                  </a:rPr>
                  <a:t>理解→结构化事务执行</a:t>
                </a:r>
              </a:p>
            </p:txBody>
          </p:sp>
        </p:grpSp>
      </p:grpSp>
      <p:grpSp>
        <p:nvGrpSpPr>
          <p:cNvPr id="583" name="组合 582">
            <a:extLst>
              <a:ext uri="{FF2B5EF4-FFF2-40B4-BE49-F238E27FC236}">
                <a16:creationId xmlns:a16="http://schemas.microsoft.com/office/drawing/2014/main" id="{2E0C5329-777A-FD5A-86EF-E115485BCC2A}"/>
              </a:ext>
            </a:extLst>
          </p:cNvPr>
          <p:cNvGrpSpPr/>
          <p:nvPr/>
        </p:nvGrpSpPr>
        <p:grpSpPr>
          <a:xfrm>
            <a:off x="1613080" y="6151784"/>
            <a:ext cx="8238732" cy="351583"/>
            <a:chOff x="1249163" y="5118109"/>
            <a:chExt cx="8238732" cy="351583"/>
          </a:xfrm>
        </p:grpSpPr>
        <p:sp>
          <p:nvSpPr>
            <p:cNvPr id="577" name="矩形: 圆角 576">
              <a:extLst>
                <a:ext uri="{FF2B5EF4-FFF2-40B4-BE49-F238E27FC236}">
                  <a16:creationId xmlns:a16="http://schemas.microsoft.com/office/drawing/2014/main" id="{03536676-5318-8B9B-67D9-59B9DBDB0AA9}"/>
                </a:ext>
              </a:extLst>
            </p:cNvPr>
            <p:cNvSpPr/>
            <p:nvPr/>
          </p:nvSpPr>
          <p:spPr>
            <a:xfrm>
              <a:off x="1249163" y="5118109"/>
              <a:ext cx="8238732" cy="351583"/>
            </a:xfrm>
            <a:prstGeom prst="roundRect">
              <a:avLst>
                <a:gd name="adj" fmla="val 19081"/>
              </a:avLst>
            </a:prstGeom>
            <a:solidFill>
              <a:srgbClr val="E9EE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 dirty="0">
                <a:solidFill>
                  <a:schemeClr val="tx1"/>
                </a:solidFill>
              </a:endParaRPr>
            </a:p>
          </p:txBody>
        </p:sp>
        <p:grpSp>
          <p:nvGrpSpPr>
            <p:cNvPr id="578" name="组合 577">
              <a:extLst>
                <a:ext uri="{FF2B5EF4-FFF2-40B4-BE49-F238E27FC236}">
                  <a16:creationId xmlns:a16="http://schemas.microsoft.com/office/drawing/2014/main" id="{B95F621C-3979-4625-65BC-244367DEB769}"/>
                </a:ext>
              </a:extLst>
            </p:cNvPr>
            <p:cNvGrpSpPr/>
            <p:nvPr/>
          </p:nvGrpSpPr>
          <p:grpSpPr>
            <a:xfrm>
              <a:off x="2454083" y="5149101"/>
              <a:ext cx="310296" cy="310296"/>
              <a:chOff x="1569132" y="4760337"/>
              <a:chExt cx="310296" cy="310296"/>
            </a:xfrm>
          </p:grpSpPr>
          <p:sp>
            <p:nvSpPr>
              <p:cNvPr id="579" name="椭圆 578">
                <a:extLst>
                  <a:ext uri="{FF2B5EF4-FFF2-40B4-BE49-F238E27FC236}">
                    <a16:creationId xmlns:a16="http://schemas.microsoft.com/office/drawing/2014/main" id="{BB5A2FFD-2784-240B-BFB2-FF89B1713038}"/>
                  </a:ext>
                </a:extLst>
              </p:cNvPr>
              <p:cNvSpPr/>
              <p:nvPr/>
            </p:nvSpPr>
            <p:spPr>
              <a:xfrm>
                <a:off x="1569132" y="4760337"/>
                <a:ext cx="310296" cy="310296"/>
              </a:xfrm>
              <a:prstGeom prst="ellipse">
                <a:avLst/>
              </a:prstGeom>
              <a:solidFill>
                <a:srgbClr val="235C8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 dirty="0"/>
              </a:p>
            </p:txBody>
          </p:sp>
          <p:pic>
            <p:nvPicPr>
              <p:cNvPr id="580" name="图形 579" descr="灯泡和齿轮 纯色填充">
                <a:extLst>
                  <a:ext uri="{FF2B5EF4-FFF2-40B4-BE49-F238E27FC236}">
                    <a16:creationId xmlns:a16="http://schemas.microsoft.com/office/drawing/2014/main" id="{DD0A4339-406B-8FEF-488C-FF9C664FA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95132" y="4769561"/>
                <a:ext cx="282188" cy="282188"/>
              </a:xfrm>
              <a:prstGeom prst="rect">
                <a:avLst/>
              </a:prstGeom>
            </p:spPr>
          </p:pic>
        </p:grpSp>
        <p:sp>
          <p:nvSpPr>
            <p:cNvPr id="581" name="文本框 580">
              <a:extLst>
                <a:ext uri="{FF2B5EF4-FFF2-40B4-BE49-F238E27FC236}">
                  <a16:creationId xmlns:a16="http://schemas.microsoft.com/office/drawing/2014/main" id="{0637D11A-8D38-2991-2442-101EEF4CAC92}"/>
                </a:ext>
              </a:extLst>
            </p:cNvPr>
            <p:cNvSpPr txBox="1"/>
            <p:nvPr/>
          </p:nvSpPr>
          <p:spPr>
            <a:xfrm>
              <a:off x="2889927" y="5170564"/>
              <a:ext cx="546161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b="1" dirty="0">
                  <a:solidFill>
                    <a:srgbClr val="05516B"/>
                  </a:solidFill>
                </a:rPr>
                <a:t>工程化亮点：</a:t>
              </a:r>
              <a:r>
                <a:rPr lang="zh-CN" altLang="en-US" sz="1100" dirty="0">
                  <a:solidFill>
                    <a:schemeClr val="bg2">
                      <a:lumMod val="50000"/>
                    </a:schemeClr>
                  </a:solidFill>
                </a:rPr>
                <a:t>流程解耦 </a:t>
              </a:r>
              <a:r>
                <a:rPr lang="en-US" altLang="zh-CN" sz="1100" dirty="0">
                  <a:solidFill>
                    <a:schemeClr val="bg2">
                      <a:lumMod val="50000"/>
                    </a:schemeClr>
                  </a:solidFill>
                </a:rPr>
                <a:t>| </a:t>
              </a:r>
              <a:r>
                <a:rPr lang="zh-CN" altLang="en-US" sz="1100" dirty="0">
                  <a:solidFill>
                    <a:schemeClr val="bg2">
                      <a:lumMod val="50000"/>
                    </a:schemeClr>
                  </a:solidFill>
                </a:rPr>
                <a:t>稳定可靠 </a:t>
              </a:r>
              <a:r>
                <a:rPr lang="en-US" altLang="zh-CN" sz="1100" dirty="0">
                  <a:solidFill>
                    <a:schemeClr val="bg2">
                      <a:lumMod val="50000"/>
                    </a:schemeClr>
                  </a:solidFill>
                </a:rPr>
                <a:t>| </a:t>
              </a:r>
              <a:r>
                <a:rPr lang="zh-CN" altLang="en-US" sz="1100" dirty="0">
                  <a:solidFill>
                    <a:schemeClr val="bg2">
                      <a:lumMod val="50000"/>
                    </a:schemeClr>
                  </a:solidFill>
                </a:rPr>
                <a:t>可扩展性强</a:t>
              </a:r>
              <a:r>
                <a:rPr lang="en-US" altLang="zh-CN" sz="1100" dirty="0">
                  <a:solidFill>
                    <a:schemeClr val="bg2">
                      <a:lumMod val="50000"/>
                    </a:schemeClr>
                  </a:solidFill>
                </a:rPr>
                <a:t> | </a:t>
              </a:r>
              <a:r>
                <a:rPr lang="zh-CN" altLang="en-US" sz="1100" dirty="0">
                  <a:solidFill>
                    <a:schemeClr val="bg2">
                      <a:lumMod val="50000"/>
                    </a:schemeClr>
                  </a:solidFill>
                </a:rPr>
                <a:t>最终输出可直接入库，形成业务闭环</a:t>
              </a:r>
            </a:p>
          </p:txBody>
        </p:sp>
      </p:grpSp>
      <p:sp>
        <p:nvSpPr>
          <p:cNvPr id="589" name="箭头: 下 588">
            <a:extLst>
              <a:ext uri="{FF2B5EF4-FFF2-40B4-BE49-F238E27FC236}">
                <a16:creationId xmlns:a16="http://schemas.microsoft.com/office/drawing/2014/main" id="{F01141F4-8FBA-23F0-A908-B508B722904F}"/>
              </a:ext>
            </a:extLst>
          </p:cNvPr>
          <p:cNvSpPr/>
          <p:nvPr/>
        </p:nvSpPr>
        <p:spPr>
          <a:xfrm rot="16200000">
            <a:off x="5086951" y="2978823"/>
            <a:ext cx="287613" cy="428294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箭头: 下 590">
            <a:extLst>
              <a:ext uri="{FF2B5EF4-FFF2-40B4-BE49-F238E27FC236}">
                <a16:creationId xmlns:a16="http://schemas.microsoft.com/office/drawing/2014/main" id="{FDA6DD85-DF1A-0861-5B5E-3BB602C8B222}"/>
              </a:ext>
            </a:extLst>
          </p:cNvPr>
          <p:cNvSpPr/>
          <p:nvPr/>
        </p:nvSpPr>
        <p:spPr>
          <a:xfrm rot="16200000">
            <a:off x="7246461" y="2971289"/>
            <a:ext cx="287613" cy="428294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9391EFC3-C70C-C3CC-F16E-457683397B34}"/>
              </a:ext>
            </a:extLst>
          </p:cNvPr>
          <p:cNvSpPr txBox="1"/>
          <p:nvPr/>
        </p:nvSpPr>
        <p:spPr>
          <a:xfrm>
            <a:off x="7117466" y="4398223"/>
            <a:ext cx="2436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002060"/>
                </a:solidFill>
              </a:rPr>
              <a:t>2026-05-25 15:00:00</a:t>
            </a:r>
          </a:p>
          <a:p>
            <a:pPr algn="ctr"/>
            <a:r>
              <a:rPr lang="en-US" altLang="zh-CN" sz="1000" dirty="0">
                <a:solidFill>
                  <a:srgbClr val="002060"/>
                </a:solidFill>
              </a:rPr>
              <a:t>(</a:t>
            </a:r>
            <a:r>
              <a:rPr lang="zh-CN" altLang="en-US" sz="1000" dirty="0">
                <a:solidFill>
                  <a:srgbClr val="002060"/>
                </a:solidFill>
              </a:rPr>
              <a:t>标准时间</a:t>
            </a:r>
            <a:r>
              <a:rPr lang="en-US" altLang="zh-CN" sz="1000" dirty="0">
                <a:solidFill>
                  <a:srgbClr val="002060"/>
                </a:solidFill>
              </a:rPr>
              <a:t>)</a:t>
            </a:r>
            <a:endParaRPr lang="zh-CN" altLang="en-US" sz="1000" dirty="0">
              <a:solidFill>
                <a:srgbClr val="002060"/>
              </a:solidFill>
            </a:endParaRPr>
          </a:p>
        </p:txBody>
      </p:sp>
      <p:sp>
        <p:nvSpPr>
          <p:cNvPr id="524" name="文本框 523">
            <a:extLst>
              <a:ext uri="{FF2B5EF4-FFF2-40B4-BE49-F238E27FC236}">
                <a16:creationId xmlns:a16="http://schemas.microsoft.com/office/drawing/2014/main" id="{129F1310-8E11-4C85-92F2-984D340B9506}"/>
              </a:ext>
            </a:extLst>
          </p:cNvPr>
          <p:cNvSpPr txBox="1"/>
          <p:nvPr/>
        </p:nvSpPr>
        <p:spPr>
          <a:xfrm>
            <a:off x="3719552" y="3184576"/>
            <a:ext cx="1475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明天下午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点开会</a:t>
            </a:r>
            <a:endParaRPr lang="en-US" altLang="zh-CN" sz="1200" b="1" dirty="0"/>
          </a:p>
          <a:p>
            <a:r>
              <a:rPr lang="zh-CN" altLang="en-US" sz="1200" dirty="0"/>
              <a:t>→</a:t>
            </a:r>
            <a:r>
              <a:rPr lang="en-US" altLang="zh-CN" sz="1200" dirty="0"/>
              <a:t>schedule</a:t>
            </a:r>
          </a:p>
          <a:p>
            <a:r>
              <a:rPr lang="en-US" altLang="zh-CN" sz="1200" dirty="0"/>
              <a:t>   (</a:t>
            </a:r>
            <a:r>
              <a:rPr lang="zh-CN" altLang="en-US" sz="1200" dirty="0"/>
              <a:t>日程创建</a:t>
            </a:r>
            <a:r>
              <a:rPr lang="en-US" altLang="zh-CN" sz="1200" dirty="0"/>
              <a:t>)</a:t>
            </a:r>
            <a:endParaRPr lang="zh-CN" altLang="en-US" sz="1200" dirty="0"/>
          </a:p>
        </p:txBody>
      </p:sp>
      <p:sp>
        <p:nvSpPr>
          <p:cNvPr id="505" name="箭头: 下 504">
            <a:extLst>
              <a:ext uri="{FF2B5EF4-FFF2-40B4-BE49-F238E27FC236}">
                <a16:creationId xmlns:a16="http://schemas.microsoft.com/office/drawing/2014/main" id="{BE588519-BF51-6624-F983-8A239830A107}"/>
              </a:ext>
            </a:extLst>
          </p:cNvPr>
          <p:cNvSpPr/>
          <p:nvPr/>
        </p:nvSpPr>
        <p:spPr>
          <a:xfrm rot="16200000">
            <a:off x="2954748" y="2951620"/>
            <a:ext cx="287613" cy="428294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8" name="箭头: 下 507">
            <a:extLst>
              <a:ext uri="{FF2B5EF4-FFF2-40B4-BE49-F238E27FC236}">
                <a16:creationId xmlns:a16="http://schemas.microsoft.com/office/drawing/2014/main" id="{EC43ADB0-8BC7-9627-C34C-A6F992781144}"/>
              </a:ext>
            </a:extLst>
          </p:cNvPr>
          <p:cNvSpPr/>
          <p:nvPr/>
        </p:nvSpPr>
        <p:spPr>
          <a:xfrm rot="16200000">
            <a:off x="9239656" y="3012888"/>
            <a:ext cx="276600" cy="428295"/>
          </a:xfrm>
          <a:prstGeom prst="downArrow">
            <a:avLst>
              <a:gd name="adj1" fmla="val 39008"/>
              <a:gd name="adj2" fmla="val 58087"/>
            </a:avLst>
          </a:prstGeom>
          <a:solidFill>
            <a:srgbClr val="0551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845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A2235-6145-FB95-AAD3-B20B6B15D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8ADA974-7208-8671-A29D-611A76E5E71A}"/>
              </a:ext>
            </a:extLst>
          </p:cNvPr>
          <p:cNvSpPr txBox="1"/>
          <p:nvPr/>
        </p:nvSpPr>
        <p:spPr>
          <a:xfrm>
            <a:off x="501412" y="3407725"/>
            <a:ext cx="2642610" cy="230832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[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</a:t>
            </a:r>
            <a:r>
              <a:rPr lang="en-US" altLang="zh-CN" sz="1200" dirty="0" err="1">
                <a:solidFill>
                  <a:schemeClr val="bg1"/>
                </a:solidFill>
              </a:rPr>
              <a:t>type":"expense</a:t>
            </a:r>
            <a:r>
              <a:rPr lang="en-US" altLang="zh-CN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"amount":35,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"category":"</a:t>
            </a:r>
            <a:r>
              <a:rPr lang="zh-CN" altLang="en-US" sz="1200" dirty="0">
                <a:solidFill>
                  <a:schemeClr val="bg1"/>
                </a:solidFill>
              </a:rPr>
              <a:t>餐饮</a:t>
            </a:r>
            <a:r>
              <a:rPr lang="en-US" altLang="zh-CN" sz="1200" dirty="0">
                <a:solidFill>
                  <a:schemeClr val="bg1"/>
                </a:solidFill>
              </a:rPr>
              <a:t>"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},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{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</a:t>
            </a:r>
            <a:r>
              <a:rPr lang="en-US" altLang="zh-CN" sz="1200" dirty="0" err="1">
                <a:solidFill>
                  <a:schemeClr val="bg1"/>
                </a:solidFill>
              </a:rPr>
              <a:t>type":"schedule</a:t>
            </a:r>
            <a:r>
              <a:rPr lang="en-US" altLang="zh-CN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"title":"</a:t>
            </a:r>
            <a:r>
              <a:rPr lang="zh-CN" altLang="en-US" sz="1200" dirty="0">
                <a:solidFill>
                  <a:schemeClr val="bg1"/>
                </a:solidFill>
              </a:rPr>
              <a:t>开会</a:t>
            </a:r>
            <a:r>
              <a:rPr lang="en-US" altLang="zh-CN" sz="1200" dirty="0">
                <a:solidFill>
                  <a:schemeClr val="bg1"/>
                </a:solidFill>
              </a:rPr>
              <a:t>",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  "time":"2026-05-26 15:00:00"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  }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]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83">
            <a:extLst>
              <a:ext uri="{FF2B5EF4-FFF2-40B4-BE49-F238E27FC236}">
                <a16:creationId xmlns:a16="http://schemas.microsoft.com/office/drawing/2014/main" id="{1B72D2AF-F8EC-B870-ED9D-8D414FF2C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系统运行示例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CFA6B10F-4B4C-87F7-874C-D5C6FD94EB2D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04A60BD7-AE64-4217-C55A-1410D33EF3C2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F25F0B-4D6B-76A9-A34B-9AFFA337A8E5}"/>
              </a:ext>
            </a:extLst>
          </p:cNvPr>
          <p:cNvGrpSpPr>
            <a:grpSpLocks noChangeAspect="1"/>
          </p:cNvGrpSpPr>
          <p:nvPr/>
        </p:nvGrpSpPr>
        <p:grpSpPr>
          <a:xfrm>
            <a:off x="78583" y="692696"/>
            <a:ext cx="7601593" cy="3890767"/>
            <a:chOff x="575843" y="1534609"/>
            <a:chExt cx="7971063" cy="4079875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C4922C6-9FFC-6E05-EFBB-E7D3FB6EB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119" y="1534609"/>
              <a:ext cx="1292225" cy="4079875"/>
            </a:xfrm>
            <a:custGeom>
              <a:avLst/>
              <a:gdLst>
                <a:gd name="T0" fmla="*/ 1292225 w 1750"/>
                <a:gd name="T1" fmla="*/ 200783 h 5527"/>
                <a:gd name="T2" fmla="*/ 231862 w 1750"/>
                <a:gd name="T3" fmla="*/ 2050641 h 5527"/>
                <a:gd name="T4" fmla="*/ 1254566 w 1750"/>
                <a:gd name="T5" fmla="*/ 3878354 h 5527"/>
                <a:gd name="T6" fmla="*/ 1138635 w 1750"/>
                <a:gd name="T7" fmla="*/ 4079875 h 5527"/>
                <a:gd name="T8" fmla="*/ 0 w 1750"/>
                <a:gd name="T9" fmla="*/ 2050641 h 5527"/>
                <a:gd name="T10" fmla="*/ 1176294 w 1750"/>
                <a:gd name="T11" fmla="*/ 0 h 5527"/>
                <a:gd name="T12" fmla="*/ 1292225 w 1750"/>
                <a:gd name="T13" fmla="*/ 200783 h 55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0" h="5527">
                  <a:moveTo>
                    <a:pt x="1750" y="272"/>
                  </a:moveTo>
                  <a:cubicBezTo>
                    <a:pt x="891" y="777"/>
                    <a:pt x="314" y="1710"/>
                    <a:pt x="314" y="2778"/>
                  </a:cubicBezTo>
                  <a:cubicBezTo>
                    <a:pt x="314" y="3825"/>
                    <a:pt x="868" y="4743"/>
                    <a:pt x="1699" y="5254"/>
                  </a:cubicBezTo>
                  <a:lnTo>
                    <a:pt x="1542" y="5527"/>
                  </a:lnTo>
                  <a:cubicBezTo>
                    <a:pt x="617" y="4961"/>
                    <a:pt x="0" y="3942"/>
                    <a:pt x="0" y="2778"/>
                  </a:cubicBezTo>
                  <a:cubicBezTo>
                    <a:pt x="0" y="1594"/>
                    <a:pt x="640" y="559"/>
                    <a:pt x="1593" y="0"/>
                  </a:cubicBezTo>
                  <a:lnTo>
                    <a:pt x="1750" y="27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294A5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465B5369-045D-7966-9132-B0674C566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719" y="1911641"/>
              <a:ext cx="1219200" cy="1220788"/>
            </a:xfrm>
            <a:prstGeom prst="ellipse">
              <a:avLst/>
            </a:prstGeom>
            <a:solidFill>
              <a:srgbClr val="05516B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2B38E974-04DD-E32C-9FEA-52B392C11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969" y="3827956"/>
              <a:ext cx="1220787" cy="1219200"/>
            </a:xfrm>
            <a:prstGeom prst="ellipse">
              <a:avLst/>
            </a:prstGeom>
            <a:solidFill>
              <a:srgbClr val="05516B"/>
            </a:solidFill>
            <a:ln w="25400">
              <a:noFill/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0505DD0-FFC5-7CA9-A195-FC85BF6F79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1071" y="2741966"/>
              <a:ext cx="1823447" cy="390463"/>
            </a:xfrm>
            <a:prstGeom prst="line">
              <a:avLst/>
            </a:prstGeom>
            <a:noFill/>
            <a:ln w="12700">
              <a:solidFill>
                <a:srgbClr val="235C86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294A5A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C1168C5D-0EB1-8F99-EE52-F5197F84A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5021" y="4334958"/>
              <a:ext cx="1960573" cy="172587"/>
            </a:xfrm>
            <a:prstGeom prst="line">
              <a:avLst/>
            </a:prstGeom>
            <a:noFill/>
            <a:ln w="12700">
              <a:solidFill>
                <a:srgbClr val="235C86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294A5A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5FA445E7-CFE6-F118-2180-2694AC7026E9}"/>
                </a:ext>
              </a:extLst>
            </p:cNvPr>
            <p:cNvGrpSpPr/>
            <p:nvPr/>
          </p:nvGrpSpPr>
          <p:grpSpPr>
            <a:xfrm>
              <a:off x="6740331" y="2709359"/>
              <a:ext cx="1806575" cy="1804988"/>
              <a:chOff x="6740331" y="3032297"/>
              <a:chExt cx="1806575" cy="1804988"/>
            </a:xfrm>
          </p:grpSpPr>
          <p:sp>
            <p:nvSpPr>
              <p:cNvPr id="15" name="Oval 6">
                <a:extLst>
                  <a:ext uri="{FF2B5EF4-FFF2-40B4-BE49-F238E27FC236}">
                    <a16:creationId xmlns:a16="http://schemas.microsoft.com/office/drawing/2014/main" id="{6F9481FC-0950-2382-0A25-45EE274C2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0331" y="3032297"/>
                <a:ext cx="1806575" cy="1804988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13500000" scaled="1"/>
                <a:tileRect/>
              </a:gradFill>
              <a:ln w="25400">
                <a:gradFill flip="none" rotWithShape="1">
                  <a:gsLst>
                    <a:gs pos="0">
                      <a:schemeClr val="bg1">
                        <a:lumMod val="100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2700000" scaled="1"/>
                  <a:tileRect/>
                </a:gradFill>
              </a:ln>
              <a:effectLst>
                <a:outerShdw blurRad="203200" dist="152400" dir="2700000" algn="tl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lt1"/>
                  </a:solidFill>
                </a:endParaRPr>
              </a:p>
            </p:txBody>
          </p:sp>
          <p:sp>
            <p:nvSpPr>
              <p:cNvPr id="16" name="Oval 14">
                <a:extLst>
                  <a:ext uri="{FF2B5EF4-FFF2-40B4-BE49-F238E27FC236}">
                    <a16:creationId xmlns:a16="http://schemas.microsoft.com/office/drawing/2014/main" id="{871E6497-71AD-F7AD-8760-233E7BCA1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4517" y="3134894"/>
                <a:ext cx="1625600" cy="1625600"/>
              </a:xfrm>
              <a:prstGeom prst="ellipse">
                <a:avLst/>
              </a:prstGeom>
              <a:solidFill>
                <a:srgbClr val="235C86"/>
              </a:solidFill>
              <a:ln>
                <a:noFill/>
              </a:ln>
              <a:effectLst>
                <a:outerShdw blurRad="152400" dist="101600" dir="2700000" algn="tl" rotWithShape="0">
                  <a:prstClr val="black">
                    <a:alpha val="60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74D674-39AE-3AAC-A1F4-9D7B99C1D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381" y="2168816"/>
              <a:ext cx="776288" cy="742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ts val="0"/>
                </a:spcBef>
                <a:buNone/>
              </a:pPr>
              <a:r>
                <a:rPr lang="zh-CN" altLang="en-US" b="1" dirty="0">
                  <a:solidFill>
                    <a:schemeClr val="bg1"/>
                  </a:solidFill>
                  <a:latin typeface="思源黑体 CN Normal"/>
                  <a:ea typeface="思源黑体 CN Normal"/>
                  <a:sym typeface="思源黑体 CN Normal" panose="020B0400000000000000" pitchFamily="34" charset="-122"/>
                </a:rPr>
                <a:t>用户输入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3203CB-774A-E72C-BDB2-C91A8319F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3444" y="4094658"/>
              <a:ext cx="978900" cy="742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  <a:latin typeface="Arial" panose="020B0604020202020204" pitchFamily="34" charset="0"/>
                  <a:ea typeface="仿宋_GB2312" pitchFamily="1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0" algn="ctr">
                <a:spcBef>
                  <a:spcPts val="0"/>
                </a:spcBef>
                <a:buNone/>
              </a:pPr>
              <a:r>
                <a:rPr lang="en-US" altLang="zh-CN" b="1" dirty="0">
                  <a:solidFill>
                    <a:schemeClr val="bg1"/>
                  </a:solidFill>
                  <a:latin typeface="思源黑体 CN Normal"/>
                  <a:ea typeface="思源黑体 CN Normal"/>
                  <a:sym typeface="思源黑体 CN Normal" panose="020B0400000000000000" pitchFamily="34" charset="-122"/>
                </a:rPr>
                <a:t>JSON</a:t>
              </a:r>
              <a:r>
                <a:rPr lang="zh-CN" altLang="en-US" b="1" dirty="0">
                  <a:solidFill>
                    <a:schemeClr val="bg1"/>
                  </a:solidFill>
                  <a:latin typeface="思源黑体 CN Normal"/>
                  <a:ea typeface="思源黑体 CN Normal"/>
                  <a:sym typeface="思源黑体 CN Normal" panose="020B0400000000000000" pitchFamily="34" charset="-122"/>
                </a:rPr>
                <a:t>解析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9D98254-3B11-E970-591B-E5DAF1ACD7A2}"/>
                </a:ext>
              </a:extLst>
            </p:cNvPr>
            <p:cNvSpPr/>
            <p:nvPr/>
          </p:nvSpPr>
          <p:spPr>
            <a:xfrm>
              <a:off x="7070787" y="3427881"/>
              <a:ext cx="1316038" cy="4195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执行结果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5F973F0-FE21-7D23-2E0C-56EB1B54EAD4}"/>
                </a:ext>
              </a:extLst>
            </p:cNvPr>
            <p:cNvSpPr/>
            <p:nvPr/>
          </p:nvSpPr>
          <p:spPr>
            <a:xfrm>
              <a:off x="575843" y="2168816"/>
              <a:ext cx="2883368" cy="6435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用户自然语言输入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“今天午饭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35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元，明天下午</a:t>
              </a: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3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点开会”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CD5844D-1CCA-B16C-4F0B-9FAED4E8175C}"/>
                </a:ext>
              </a:extLst>
            </p:cNvPr>
            <p:cNvSpPr/>
            <p:nvPr/>
          </p:nvSpPr>
          <p:spPr>
            <a:xfrm>
              <a:off x="814793" y="4026370"/>
              <a:ext cx="2696082" cy="6435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AI</a:t>
              </a:r>
              <a:r>
                <a:rPr lang="zh-CN" altLang="en-US" sz="1200" dirty="0">
                  <a:solidFill>
                    <a:srgbClr val="333333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思源黑体 CN Normal" panose="020B0400000000000000" pitchFamily="34" charset="-122"/>
                </a:rPr>
                <a:t>结构化输出</a:t>
              </a: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  <a:p>
              <a:pPr lvl="0" algn="r">
                <a:lnSpc>
                  <a:spcPct val="150000"/>
                </a:lnSpc>
                <a:defRPr/>
              </a:pPr>
              <a:endPara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77E10E79-E498-DBC7-17C3-45138504A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274201"/>
            <a:ext cx="3083280" cy="6513428"/>
          </a:xfrm>
          <a:prstGeom prst="rect">
            <a:avLst/>
          </a:prstGeom>
        </p:spPr>
      </p:pic>
      <p:pic>
        <p:nvPicPr>
          <p:cNvPr id="3" name="图片 2" descr="图4：多意图拆分时序图">
            <a:extLst>
              <a:ext uri="{FF2B5EF4-FFF2-40B4-BE49-F238E27FC236}">
                <a16:creationId xmlns:a16="http://schemas.microsoft.com/office/drawing/2014/main" id="{77A7C669-72BF-B33F-99AE-E097D8D3194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27648" y="4293096"/>
            <a:ext cx="6025515" cy="241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9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6E2B89AC-5767-47B8-AA99-775D7556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778" y="190129"/>
            <a:ext cx="35059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项目创新点</a:t>
            </a:r>
          </a:p>
        </p:txBody>
      </p:sp>
      <p:sp>
        <p:nvSpPr>
          <p:cNvPr id="3" name="箭头: V 形 2">
            <a:extLst>
              <a:ext uri="{FF2B5EF4-FFF2-40B4-BE49-F238E27FC236}">
                <a16:creationId xmlns:a16="http://schemas.microsoft.com/office/drawing/2014/main" id="{983C75EF-F3A3-45EB-93ED-D7CF70A842D3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9CACE444-5562-494A-9ECC-61A6431D0AA3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4E0082D-5987-8665-AC9C-C548DE88993E}"/>
              </a:ext>
            </a:extLst>
          </p:cNvPr>
          <p:cNvGrpSpPr/>
          <p:nvPr/>
        </p:nvGrpSpPr>
        <p:grpSpPr>
          <a:xfrm>
            <a:off x="205958" y="1043580"/>
            <a:ext cx="3160461" cy="1057024"/>
            <a:chOff x="934521" y="1043580"/>
            <a:chExt cx="3160461" cy="105702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01BE55E-56EC-4289-882E-4662AEB445F2}"/>
                </a:ext>
              </a:extLst>
            </p:cNvPr>
            <p:cNvSpPr/>
            <p:nvPr/>
          </p:nvSpPr>
          <p:spPr>
            <a:xfrm>
              <a:off x="1562409" y="1120493"/>
              <a:ext cx="2532573" cy="905810"/>
            </a:xfrm>
            <a:prstGeom prst="roundRect">
              <a:avLst/>
            </a:prstGeom>
            <a:noFill/>
            <a:ln w="38100">
              <a:solidFill>
                <a:srgbClr val="05516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F3762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E0523EF-0333-4A0B-837D-A6950E033E8C}"/>
                </a:ext>
              </a:extLst>
            </p:cNvPr>
            <p:cNvSpPr/>
            <p:nvPr/>
          </p:nvSpPr>
          <p:spPr>
            <a:xfrm>
              <a:off x="1917774" y="1194444"/>
              <a:ext cx="210447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r"/>
              <a:r>
                <a:rPr lang="zh-CN" altLang="en-US" sz="2000" b="1" dirty="0">
                  <a:solidFill>
                    <a:srgbClr val="333333"/>
                  </a:solidFill>
                  <a:sym typeface="思源黑体 CN Normal" panose="020B0400000000000000" pitchFamily="34" charset="-122"/>
                </a:rPr>
                <a:t>模块化</a:t>
              </a:r>
              <a:r>
                <a:rPr lang="en-US" altLang="zh-CN" sz="2000" b="1" dirty="0">
                  <a:solidFill>
                    <a:srgbClr val="333333"/>
                  </a:solidFill>
                  <a:sym typeface="思源黑体 CN Normal" panose="020B0400000000000000" pitchFamily="34" charset="-122"/>
                </a:rPr>
                <a:t>Prompt Workflow</a:t>
              </a:r>
              <a:r>
                <a:rPr lang="zh-CN" altLang="en-US" sz="2000" b="1" dirty="0">
                  <a:solidFill>
                    <a:srgbClr val="333333"/>
                  </a:solidFill>
                  <a:sym typeface="思源黑体 CN Normal" panose="020B0400000000000000" pitchFamily="34" charset="-122"/>
                </a:rPr>
                <a:t>架构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DBE6532-56D6-4CEE-8158-93314FFE683A}"/>
                </a:ext>
              </a:extLst>
            </p:cNvPr>
            <p:cNvSpPr/>
            <p:nvPr/>
          </p:nvSpPr>
          <p:spPr>
            <a:xfrm>
              <a:off x="934521" y="1043580"/>
              <a:ext cx="1057024" cy="1057024"/>
            </a:xfrm>
            <a:prstGeom prst="ellipse">
              <a:avLst/>
            </a:prstGeom>
            <a:solidFill>
              <a:srgbClr val="235C86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58B0F3C-1C89-A7AF-D8E1-68E95A58E826}"/>
              </a:ext>
            </a:extLst>
          </p:cNvPr>
          <p:cNvSpPr/>
          <p:nvPr/>
        </p:nvSpPr>
        <p:spPr>
          <a:xfrm>
            <a:off x="8824540" y="1089065"/>
            <a:ext cx="2532573" cy="905810"/>
          </a:xfrm>
          <a:prstGeom prst="roundRect">
            <a:avLst/>
          </a:prstGeom>
          <a:noFill/>
          <a:ln w="38100">
            <a:solidFill>
              <a:srgbClr val="0551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3762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DC8497-5FF2-6C84-A04B-D779DFC40666}"/>
              </a:ext>
            </a:extLst>
          </p:cNvPr>
          <p:cNvSpPr/>
          <p:nvPr/>
        </p:nvSpPr>
        <p:spPr>
          <a:xfrm>
            <a:off x="9226162" y="1169050"/>
            <a:ext cx="21478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混合式时间解析机制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8487884-0DB9-CBCA-1D95-20F50A5A128D}"/>
              </a:ext>
            </a:extLst>
          </p:cNvPr>
          <p:cNvSpPr/>
          <p:nvPr/>
        </p:nvSpPr>
        <p:spPr>
          <a:xfrm>
            <a:off x="8196652" y="1012152"/>
            <a:ext cx="1057024" cy="1057024"/>
          </a:xfrm>
          <a:prstGeom prst="ellipse">
            <a:avLst/>
          </a:prstGeom>
          <a:solidFill>
            <a:srgbClr val="235C8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03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11A36E4-B47C-BA9F-BD70-FFDD74B0979D}"/>
              </a:ext>
            </a:extLst>
          </p:cNvPr>
          <p:cNvSpPr/>
          <p:nvPr/>
        </p:nvSpPr>
        <p:spPr>
          <a:xfrm>
            <a:off x="4829193" y="1104779"/>
            <a:ext cx="2532573" cy="905810"/>
          </a:xfrm>
          <a:prstGeom prst="roundRect">
            <a:avLst/>
          </a:prstGeom>
          <a:noFill/>
          <a:ln w="38100">
            <a:solidFill>
              <a:srgbClr val="0551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F3762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A607E6-82EC-C34C-E1DD-E0C694459D7E}"/>
              </a:ext>
            </a:extLst>
          </p:cNvPr>
          <p:cNvSpPr/>
          <p:nvPr/>
        </p:nvSpPr>
        <p:spPr>
          <a:xfrm>
            <a:off x="5258329" y="1169050"/>
            <a:ext cx="20269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结构化输出稳定性保障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A7A045D-72D9-B4F8-7F28-8E2CFD393971}"/>
              </a:ext>
            </a:extLst>
          </p:cNvPr>
          <p:cNvSpPr/>
          <p:nvPr/>
        </p:nvSpPr>
        <p:spPr>
          <a:xfrm>
            <a:off x="4201305" y="1027866"/>
            <a:ext cx="1057024" cy="1057024"/>
          </a:xfrm>
          <a:prstGeom prst="ellipse">
            <a:avLst/>
          </a:prstGeom>
          <a:solidFill>
            <a:srgbClr val="235C8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02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B76487-F085-A6ED-A935-6451DA8E6F89}"/>
              </a:ext>
            </a:extLst>
          </p:cNvPr>
          <p:cNvCxnSpPr>
            <a:cxnSpLocks/>
          </p:cNvCxnSpPr>
          <p:nvPr/>
        </p:nvCxnSpPr>
        <p:spPr>
          <a:xfrm>
            <a:off x="738778" y="2420888"/>
            <a:ext cx="2532573" cy="0"/>
          </a:xfrm>
          <a:prstGeom prst="line">
            <a:avLst/>
          </a:prstGeom>
          <a:noFill/>
          <a:ln w="25400">
            <a:solidFill>
              <a:srgbClr val="235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302C4EA-7424-59C5-6F01-7D81628611FD}"/>
              </a:ext>
            </a:extLst>
          </p:cNvPr>
          <p:cNvCxnSpPr>
            <a:cxnSpLocks/>
          </p:cNvCxnSpPr>
          <p:nvPr/>
        </p:nvCxnSpPr>
        <p:spPr>
          <a:xfrm>
            <a:off x="4640101" y="2393851"/>
            <a:ext cx="2532573" cy="0"/>
          </a:xfrm>
          <a:prstGeom prst="line">
            <a:avLst/>
          </a:prstGeom>
          <a:noFill/>
          <a:ln w="25400">
            <a:solidFill>
              <a:srgbClr val="235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CDB637EA-0F08-2FA2-FAF0-8F7FBB138388}"/>
              </a:ext>
            </a:extLst>
          </p:cNvPr>
          <p:cNvCxnSpPr>
            <a:cxnSpLocks/>
          </p:cNvCxnSpPr>
          <p:nvPr/>
        </p:nvCxnSpPr>
        <p:spPr>
          <a:xfrm>
            <a:off x="8541425" y="2407369"/>
            <a:ext cx="2532573" cy="0"/>
          </a:xfrm>
          <a:prstGeom prst="line">
            <a:avLst/>
          </a:prstGeom>
          <a:noFill/>
          <a:ln w="25400">
            <a:solidFill>
              <a:srgbClr val="235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圆角矩形 32">
            <a:extLst>
              <a:ext uri="{FF2B5EF4-FFF2-40B4-BE49-F238E27FC236}">
                <a16:creationId xmlns:a16="http://schemas.microsoft.com/office/drawing/2014/main" id="{2F824699-E5FA-9A7E-184E-46011A1C2648}"/>
              </a:ext>
            </a:extLst>
          </p:cNvPr>
          <p:cNvSpPr/>
          <p:nvPr/>
        </p:nvSpPr>
        <p:spPr>
          <a:xfrm>
            <a:off x="518901" y="2747250"/>
            <a:ext cx="2885503" cy="3744679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736AB8E7-CA45-49A5-8A75-21EC3B05B7A8}"/>
              </a:ext>
            </a:extLst>
          </p:cNvPr>
          <p:cNvSpPr txBox="1"/>
          <p:nvPr/>
        </p:nvSpPr>
        <p:spPr>
          <a:xfrm>
            <a:off x="695365" y="3593957"/>
            <a:ext cx="2520315" cy="2183330"/>
          </a:xfrm>
          <a:prstGeom prst="rect">
            <a:avLst/>
          </a:prstGeom>
          <a:noFill/>
        </p:spPr>
        <p:txBody>
          <a:bodyPr wrap="square" lIns="91418" tIns="45708" rIns="91418" bIns="45708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相比传统单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Prompt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，本项目采用：</a:t>
            </a:r>
            <a:r>
              <a:rPr lang="zh-CN" altLang="en-US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单</a:t>
            </a:r>
            <a:r>
              <a:rPr lang="en-US" altLang="zh-CN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LLM + </a:t>
            </a:r>
            <a:r>
              <a:rPr lang="zh-CN" altLang="en-US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模块</a:t>
            </a:r>
            <a:r>
              <a:rPr lang="en-US" altLang="zh-CN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Prompt Workflow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优势：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更稳定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更易维护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更适合事务场景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2" name="圆角矩形 32">
            <a:extLst>
              <a:ext uri="{FF2B5EF4-FFF2-40B4-BE49-F238E27FC236}">
                <a16:creationId xmlns:a16="http://schemas.microsoft.com/office/drawing/2014/main" id="{14A8DC56-5C64-9C0C-A171-56F042313197}"/>
              </a:ext>
            </a:extLst>
          </p:cNvPr>
          <p:cNvSpPr/>
          <p:nvPr/>
        </p:nvSpPr>
        <p:spPr>
          <a:xfrm>
            <a:off x="4495582" y="2777114"/>
            <a:ext cx="2885503" cy="3744679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147A96F3-B5E3-4DBD-8F58-91BC41756578}"/>
              </a:ext>
            </a:extLst>
          </p:cNvPr>
          <p:cNvSpPr txBox="1"/>
          <p:nvPr/>
        </p:nvSpPr>
        <p:spPr>
          <a:xfrm>
            <a:off x="4829193" y="3497607"/>
            <a:ext cx="2130903" cy="1721666"/>
          </a:xfrm>
          <a:prstGeom prst="rect">
            <a:avLst/>
          </a:prstGeom>
          <a:noFill/>
        </p:spPr>
        <p:txBody>
          <a:bodyPr wrap="square" lIns="91418" tIns="45708" rIns="91418" bIns="45708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设计：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Markdown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清洗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JSON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修复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Schema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校验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默认值补全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提升大模型输出可靠性。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43" name="圆角矩形 32">
            <a:extLst>
              <a:ext uri="{FF2B5EF4-FFF2-40B4-BE49-F238E27FC236}">
                <a16:creationId xmlns:a16="http://schemas.microsoft.com/office/drawing/2014/main" id="{42AFE431-4CF9-C59E-CA0E-70A47615B470}"/>
              </a:ext>
            </a:extLst>
          </p:cNvPr>
          <p:cNvSpPr/>
          <p:nvPr/>
        </p:nvSpPr>
        <p:spPr>
          <a:xfrm>
            <a:off x="8364959" y="2747250"/>
            <a:ext cx="2885503" cy="3744679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67981D84-A256-4AF8-BE25-54C1F3444957}"/>
              </a:ext>
            </a:extLst>
          </p:cNvPr>
          <p:cNvSpPr txBox="1"/>
          <p:nvPr/>
        </p:nvSpPr>
        <p:spPr>
          <a:xfrm>
            <a:off x="8771426" y="3601572"/>
            <a:ext cx="2248345" cy="1813999"/>
          </a:xfrm>
          <a:prstGeom prst="rect">
            <a:avLst/>
          </a:prstGeom>
          <a:noFill/>
        </p:spPr>
        <p:txBody>
          <a:bodyPr wrap="square" lIns="91418" tIns="45708" rIns="91418" bIns="45708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采用：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LLM + </a:t>
            </a:r>
            <a:r>
              <a:rPr lang="zh-CN" altLang="en-US" sz="1600" b="1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规则引擎</a:t>
            </a:r>
            <a:endParaRPr lang="en-US" altLang="zh-CN" sz="1600" b="1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兼顾：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自然语言理解能力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时间计算确定性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降低大模型时间推理幻觉问题。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566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2F69-4B2E-F52A-4C17-9F49F6F7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BD32DB2F-B278-B1CF-235D-9123E95F5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团队已有成果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9DF51156-6B6F-41FD-5943-DF92DA5D7440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EDB62C27-F342-2396-1EBF-0E9C31CB79ED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23">
            <a:extLst>
              <a:ext uri="{FF2B5EF4-FFF2-40B4-BE49-F238E27FC236}">
                <a16:creationId xmlns:a16="http://schemas.microsoft.com/office/drawing/2014/main" id="{F9B38C36-5F84-C2F1-948A-00F5AD57E7DB}"/>
              </a:ext>
            </a:extLst>
          </p:cNvPr>
          <p:cNvSpPr/>
          <p:nvPr/>
        </p:nvSpPr>
        <p:spPr>
          <a:xfrm>
            <a:off x="510699" y="1433703"/>
            <a:ext cx="2603294" cy="388807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F4C68A-9F3D-FE6C-FA61-5CFD936C7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98" y="1762981"/>
            <a:ext cx="2328495" cy="3143909"/>
          </a:xfrm>
          <a:prstGeom prst="rect">
            <a:avLst/>
          </a:prstGeom>
        </p:spPr>
      </p:pic>
      <p:sp>
        <p:nvSpPr>
          <p:cNvPr id="3" name="圆角矩形 23">
            <a:extLst>
              <a:ext uri="{FF2B5EF4-FFF2-40B4-BE49-F238E27FC236}">
                <a16:creationId xmlns:a16="http://schemas.microsoft.com/office/drawing/2014/main" id="{00D2246D-ACAA-9159-F982-08F199B8F654}"/>
              </a:ext>
            </a:extLst>
          </p:cNvPr>
          <p:cNvSpPr/>
          <p:nvPr/>
        </p:nvSpPr>
        <p:spPr>
          <a:xfrm>
            <a:off x="9079869" y="1420358"/>
            <a:ext cx="2603294" cy="388807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8073B635-91BA-6706-3AA9-AC5A594A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220293" y="1725723"/>
            <a:ext cx="2416400" cy="3126769"/>
          </a:xfrm>
          <a:prstGeom prst="rect">
            <a:avLst/>
          </a:prstGeom>
        </p:spPr>
      </p:pic>
      <p:sp>
        <p:nvSpPr>
          <p:cNvPr id="37" name="圆角矩形 23">
            <a:extLst>
              <a:ext uri="{FF2B5EF4-FFF2-40B4-BE49-F238E27FC236}">
                <a16:creationId xmlns:a16="http://schemas.microsoft.com/office/drawing/2014/main" id="{F4913483-4D71-E2FB-9488-7BD53D77DB69}"/>
              </a:ext>
            </a:extLst>
          </p:cNvPr>
          <p:cNvSpPr/>
          <p:nvPr/>
        </p:nvSpPr>
        <p:spPr>
          <a:xfrm>
            <a:off x="3469880" y="1390896"/>
            <a:ext cx="5472589" cy="3888077"/>
          </a:xfrm>
          <a:prstGeom prst="round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25400">
            <a:gradFill flip="none" rotWithShape="1">
              <a:gsLst>
                <a:gs pos="0">
                  <a:schemeClr val="bg1">
                    <a:lumMod val="10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203200" dist="1524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DBC86AA5-5AC7-DD9F-FB79-1CDBA2B4A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744" y="1536714"/>
            <a:ext cx="1902545" cy="357184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8EC1C38-8BC4-4854-6803-C27560852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9371" y="3140968"/>
            <a:ext cx="2669168" cy="1889137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A6006D5B-9849-F7F4-6BCB-A11C2C8EF4E8}"/>
              </a:ext>
            </a:extLst>
          </p:cNvPr>
          <p:cNvSpPr txBox="1"/>
          <p:nvPr/>
        </p:nvSpPr>
        <p:spPr>
          <a:xfrm>
            <a:off x="2775738" y="5784641"/>
            <a:ext cx="66405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依托成熟的项目开发经验与知识产权成果，团队具备完整的项目落地与成果转化能力，可保障本项目顺利实施、按期结题。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2462DCB-8C0D-B5A7-6B03-D717C2A495C9}"/>
              </a:ext>
            </a:extLst>
          </p:cNvPr>
          <p:cNvSpPr txBox="1"/>
          <p:nvPr/>
        </p:nvSpPr>
        <p:spPr>
          <a:xfrm>
            <a:off x="5725454" y="1894473"/>
            <a:ext cx="321402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buNone/>
            </a:pPr>
            <a:r>
              <a:rPr lang="zh-CN" altLang="en-US" sz="1600" b="0" dirty="0">
                <a:solidFill>
                  <a:srgbClr val="000000"/>
                </a:solidFill>
                <a:effectLst/>
                <a:latin typeface="ui-sans-serif"/>
              </a:rPr>
              <a:t>小</a:t>
            </a:r>
            <a:r>
              <a:rPr lang="ja-JP" altLang="en-US" sz="1600" b="0" dirty="0">
                <a:solidFill>
                  <a:srgbClr val="000000"/>
                </a:solidFill>
                <a:effectLst/>
                <a:latin typeface="ui-sans-serif"/>
              </a:rPr>
              <a:t>蜀记・四川非遗文旅导览微信小程序（已上线运营），斩获 “华迪杯” 省级二等奖，具备完整前后端开发、上线部署及赛事成果转化经验</a:t>
            </a:r>
            <a:endParaRPr lang="zh-CN" altLang="en-US" sz="1600" b="0" dirty="0">
              <a:solidFill>
                <a:srgbClr val="000000"/>
              </a:solidFill>
              <a:effectLst/>
              <a:latin typeface="ui-sans-serif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385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446DA-0073-D5FB-CBE2-7003C8AB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3">
            <a:extLst>
              <a:ext uri="{FF2B5EF4-FFF2-40B4-BE49-F238E27FC236}">
                <a16:creationId xmlns:a16="http://schemas.microsoft.com/office/drawing/2014/main" id="{E0E5D630-F19E-C084-7DCD-3CA60CEAA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56" y="180816"/>
            <a:ext cx="37562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项目规划与预期成果</a:t>
            </a:r>
            <a:endParaRPr lang="en-US" altLang="zh-CN" sz="2800" dirty="0">
              <a:solidFill>
                <a:srgbClr val="235C86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1BA758E7-5C62-37F7-927A-C8A4A8E0C334}"/>
              </a:ext>
            </a:extLst>
          </p:cNvPr>
          <p:cNvSpPr/>
          <p:nvPr/>
        </p:nvSpPr>
        <p:spPr>
          <a:xfrm>
            <a:off x="156755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3539A0A5-E47E-1C93-06E2-E1DE84476880}"/>
              </a:ext>
            </a:extLst>
          </p:cNvPr>
          <p:cNvSpPr/>
          <p:nvPr/>
        </p:nvSpPr>
        <p:spPr>
          <a:xfrm>
            <a:off x="388273" y="298609"/>
            <a:ext cx="261257" cy="306260"/>
          </a:xfrm>
          <a:prstGeom prst="chevron">
            <a:avLst/>
          </a:prstGeom>
          <a:solidFill>
            <a:srgbClr val="23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1368AA7-C8E5-3012-C17F-ED4C92419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477" y="3065954"/>
            <a:ext cx="4954409" cy="710001"/>
          </a:xfrm>
          <a:prstGeom prst="rect">
            <a:avLst/>
          </a:prstGeom>
          <a:solidFill>
            <a:srgbClr val="FFFFFF"/>
          </a:solidFill>
          <a:ln w="9525">
            <a:solidFill>
              <a:srgbClr val="235C86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0" name="Line 43">
            <a:extLst>
              <a:ext uri="{FF2B5EF4-FFF2-40B4-BE49-F238E27FC236}">
                <a16:creationId xmlns:a16="http://schemas.microsoft.com/office/drawing/2014/main" id="{6A081B3E-1732-434D-6AF0-3067E1E15A50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234230" y="1978528"/>
            <a:ext cx="0" cy="2852040"/>
          </a:xfrm>
          <a:prstGeom prst="line">
            <a:avLst/>
          </a:prstGeom>
          <a:noFill/>
          <a:ln w="28575">
            <a:solidFill>
              <a:srgbClr val="235C86"/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5520" tIns="37760" rIns="75520" bIns="37760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60D602C1-BFCE-7285-20B0-E588F8E63AC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464254" y="4025414"/>
            <a:ext cx="1953994" cy="712262"/>
          </a:xfrm>
          <a:prstGeom prst="rect">
            <a:avLst/>
          </a:prstGeom>
          <a:solidFill>
            <a:srgbClr val="FFFFFF"/>
          </a:solidFill>
          <a:ln w="9525">
            <a:solidFill>
              <a:srgbClr val="05516B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2" name="Line 44">
            <a:extLst>
              <a:ext uri="{FF2B5EF4-FFF2-40B4-BE49-F238E27FC236}">
                <a16:creationId xmlns:a16="http://schemas.microsoft.com/office/drawing/2014/main" id="{6722A295-7D95-E8DF-F358-F70C0613EA22}"/>
              </a:ext>
            </a:extLst>
          </p:cNvPr>
          <p:cNvSpPr>
            <a:spLocks noChangeShapeType="1"/>
          </p:cNvSpPr>
          <p:nvPr/>
        </p:nvSpPr>
        <p:spPr bwMode="auto">
          <a:xfrm rot="120000">
            <a:off x="9453280" y="4013178"/>
            <a:ext cx="39996" cy="1159060"/>
          </a:xfrm>
          <a:prstGeom prst="line">
            <a:avLst/>
          </a:prstGeom>
          <a:noFill/>
          <a:ln w="28575">
            <a:solidFill>
              <a:srgbClr val="05516B"/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5520" tIns="37760" rIns="75520" bIns="37760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82AEEF67-C75F-237A-B1E3-5A8039033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484" y="1577340"/>
            <a:ext cx="4547403" cy="714591"/>
          </a:xfrm>
          <a:prstGeom prst="rect">
            <a:avLst/>
          </a:prstGeom>
          <a:solidFill>
            <a:srgbClr val="FFFFFF"/>
          </a:solidFill>
          <a:ln w="9525">
            <a:solidFill>
              <a:srgbClr val="05516B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4" name="Line 43">
            <a:extLst>
              <a:ext uri="{FF2B5EF4-FFF2-40B4-BE49-F238E27FC236}">
                <a16:creationId xmlns:a16="http://schemas.microsoft.com/office/drawing/2014/main" id="{3C111F34-4C71-2895-BAB8-3D72C2453AB2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7104845" y="501100"/>
            <a:ext cx="0" cy="2852040"/>
          </a:xfrm>
          <a:prstGeom prst="line">
            <a:avLst/>
          </a:prstGeom>
          <a:noFill/>
          <a:ln w="28575">
            <a:solidFill>
              <a:srgbClr val="05516B"/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5520" tIns="37760" rIns="75520" bIns="37760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CEF24B4C-865D-BA03-1D07-50811A5683D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825966" y="2320517"/>
            <a:ext cx="2198615" cy="712262"/>
          </a:xfrm>
          <a:prstGeom prst="rect">
            <a:avLst/>
          </a:prstGeom>
          <a:solidFill>
            <a:srgbClr val="FFFFFF"/>
          </a:solidFill>
          <a:ln w="9525">
            <a:solidFill>
              <a:srgbClr val="235C86"/>
            </a:solidFill>
            <a:miter lim="800000"/>
            <a:headEnd/>
            <a:tailEnd/>
          </a:ln>
        </p:spPr>
        <p:txBody>
          <a:bodyPr wrap="none" lIns="75520" tIns="37760" rIns="75520" bIns="37760" anchor="ctr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6" name="Line 42">
            <a:extLst>
              <a:ext uri="{FF2B5EF4-FFF2-40B4-BE49-F238E27FC236}">
                <a16:creationId xmlns:a16="http://schemas.microsoft.com/office/drawing/2014/main" id="{06A8A21D-8A67-5637-72E6-097C698A46D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8813" y="2481961"/>
            <a:ext cx="0" cy="380981"/>
          </a:xfrm>
          <a:prstGeom prst="line">
            <a:avLst/>
          </a:prstGeom>
          <a:noFill/>
          <a:ln w="28575">
            <a:solidFill>
              <a:srgbClr val="235C86"/>
            </a:solidFill>
            <a:prstDash val="lgDash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5520" tIns="37760" rIns="75520" bIns="37760"/>
          <a:lstStyle/>
          <a:p>
            <a:pPr>
              <a:defRPr/>
            </a:pPr>
            <a:endParaRPr lang="zh-CN" altLang="en-US" kern="0" dirty="0">
              <a:solidFill>
                <a:sysClr val="windowText" lastClr="000000"/>
              </a:solidFill>
              <a:ea typeface="微软雅黑" pitchFamily="34" charset="-122"/>
            </a:endParaRPr>
          </a:p>
        </p:txBody>
      </p:sp>
      <p:sp>
        <p:nvSpPr>
          <p:cNvPr id="17" name="Oval 38">
            <a:extLst>
              <a:ext uri="{FF2B5EF4-FFF2-40B4-BE49-F238E27FC236}">
                <a16:creationId xmlns:a16="http://schemas.microsoft.com/office/drawing/2014/main" id="{AF783E2A-273A-933A-72DB-9B8AF183C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5468" y="1340768"/>
            <a:ext cx="1163719" cy="1141193"/>
          </a:xfrm>
          <a:prstGeom prst="ellipse">
            <a:avLst/>
          </a:prstGeom>
          <a:solidFill>
            <a:srgbClr val="05516B"/>
          </a:solidFill>
          <a:ln w="19050">
            <a:noFill/>
            <a:round/>
            <a:headEnd/>
            <a:tailEnd/>
          </a:ln>
        </p:spPr>
        <p:txBody>
          <a:bodyPr wrap="none" lIns="75520" tIns="37760" rIns="75520" bIns="37760" anchor="ctr"/>
          <a:lstStyle/>
          <a:p>
            <a:pPr algn="ctr">
              <a:defRPr/>
            </a:pPr>
            <a:r>
              <a:rPr lang="en-US" altLang="zh-CN" sz="2000" b="1" dirty="0">
                <a:solidFill>
                  <a:schemeClr val="bg1"/>
                </a:solidFill>
              </a:rPr>
              <a:t>AI</a:t>
            </a:r>
          </a:p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解析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0F8357-8F36-C24D-DCE0-3F90B8BF4EFA}"/>
              </a:ext>
            </a:extLst>
          </p:cNvPr>
          <p:cNvSpPr/>
          <p:nvPr/>
        </p:nvSpPr>
        <p:spPr>
          <a:xfrm>
            <a:off x="5700522" y="1597592"/>
            <a:ext cx="3006009" cy="324595"/>
          </a:xfrm>
          <a:prstGeom prst="rect">
            <a:avLst/>
          </a:prstGeom>
        </p:spPr>
        <p:txBody>
          <a:bodyPr wrap="square" lIns="75520" tIns="37760" rIns="75520" bIns="37760" anchor="ctr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多意图拆分 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| JSON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结构化输出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0" name="Oval 38">
            <a:extLst>
              <a:ext uri="{FF2B5EF4-FFF2-40B4-BE49-F238E27FC236}">
                <a16:creationId xmlns:a16="http://schemas.microsoft.com/office/drawing/2014/main" id="{E3C3DAC4-D77A-2670-227D-6D12A4FF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13" y="1340768"/>
            <a:ext cx="1163719" cy="1141193"/>
          </a:xfrm>
          <a:prstGeom prst="ellipse">
            <a:avLst/>
          </a:prstGeom>
          <a:solidFill>
            <a:srgbClr val="235C86"/>
          </a:solidFill>
          <a:ln w="19050">
            <a:noFill/>
            <a:round/>
            <a:headEnd/>
            <a:tailEnd/>
          </a:ln>
        </p:spPr>
        <p:txBody>
          <a:bodyPr wrap="none" lIns="75520" tIns="37760" rIns="75520" bIns="3776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原型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验证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21" name="Oval 38">
            <a:extLst>
              <a:ext uri="{FF2B5EF4-FFF2-40B4-BE49-F238E27FC236}">
                <a16:creationId xmlns:a16="http://schemas.microsoft.com/office/drawing/2014/main" id="{88739DBF-15BD-F3D2-D85E-0F6116F2E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300" y="2882504"/>
            <a:ext cx="1163719" cy="1141193"/>
          </a:xfrm>
          <a:prstGeom prst="ellipse">
            <a:avLst/>
          </a:prstGeom>
          <a:solidFill>
            <a:srgbClr val="235C86"/>
          </a:solidFill>
          <a:ln w="19050">
            <a:noFill/>
            <a:round/>
            <a:headEnd/>
            <a:tailEnd/>
          </a:ln>
        </p:spPr>
        <p:txBody>
          <a:bodyPr wrap="none" lIns="75520" tIns="37760" rIns="75520" bIns="3776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移动端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适配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3AD3C4-AFF6-D062-51AA-1D319F9DA5F3}"/>
              </a:ext>
            </a:extLst>
          </p:cNvPr>
          <p:cNvSpPr/>
          <p:nvPr/>
        </p:nvSpPr>
        <p:spPr>
          <a:xfrm>
            <a:off x="5700522" y="3051455"/>
            <a:ext cx="3006009" cy="324595"/>
          </a:xfrm>
          <a:prstGeom prst="rect">
            <a:avLst/>
          </a:prstGeom>
        </p:spPr>
        <p:txBody>
          <a:bodyPr wrap="square" lIns="75520" tIns="37760" rIns="75520" bIns="37760" anchor="ctr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US" altLang="zh-CN" sz="1200" dirty="0" err="1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uni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-app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跨端开发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3" name="Oval 38">
            <a:extLst>
              <a:ext uri="{FF2B5EF4-FFF2-40B4-BE49-F238E27FC236}">
                <a16:creationId xmlns:a16="http://schemas.microsoft.com/office/drawing/2014/main" id="{A88E9568-03BE-77D6-6C84-D71B7A41C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355" y="2833951"/>
            <a:ext cx="1163719" cy="1141193"/>
          </a:xfrm>
          <a:prstGeom prst="ellipse">
            <a:avLst/>
          </a:prstGeom>
          <a:solidFill>
            <a:srgbClr val="05516B"/>
          </a:solidFill>
          <a:ln w="19050">
            <a:noFill/>
            <a:round/>
            <a:headEnd/>
            <a:tailEnd/>
          </a:ln>
        </p:spPr>
        <p:txBody>
          <a:bodyPr wrap="none" lIns="75520" tIns="37760" rIns="75520" bIns="3776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测试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优化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24" name="Oval 38">
            <a:extLst>
              <a:ext uri="{FF2B5EF4-FFF2-40B4-BE49-F238E27FC236}">
                <a16:creationId xmlns:a16="http://schemas.microsoft.com/office/drawing/2014/main" id="{5992CFB1-E8AE-D8F9-0B3F-1EF6331B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5468" y="5153806"/>
            <a:ext cx="1163719" cy="1141193"/>
          </a:xfrm>
          <a:prstGeom prst="ellipse">
            <a:avLst/>
          </a:prstGeom>
          <a:solidFill>
            <a:srgbClr val="05516B"/>
          </a:solidFill>
          <a:ln w="19050">
            <a:noFill/>
            <a:round/>
            <a:headEnd/>
            <a:tailEnd/>
          </a:ln>
        </p:spPr>
        <p:txBody>
          <a:bodyPr wrap="none" lIns="75520" tIns="37760" rIns="75520" bIns="3776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结题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bg1"/>
                </a:solidFill>
              </a:rPr>
              <a:t>交付</a:t>
            </a:r>
            <a:endParaRPr lang="en-US" altLang="zh-CN" sz="2000" b="1" dirty="0">
              <a:solidFill>
                <a:schemeClr val="bg1"/>
              </a:solidFill>
            </a:endParaRPr>
          </a:p>
        </p:txBody>
      </p:sp>
      <p:sp>
        <p:nvSpPr>
          <p:cNvPr id="26" name="TextBox 41">
            <a:extLst>
              <a:ext uri="{FF2B5EF4-FFF2-40B4-BE49-F238E27FC236}">
                <a16:creationId xmlns:a16="http://schemas.microsoft.com/office/drawing/2014/main" id="{CECB9D14-A400-73FE-001F-704E2525B031}"/>
              </a:ext>
            </a:extLst>
          </p:cNvPr>
          <p:cNvSpPr txBox="1"/>
          <p:nvPr/>
        </p:nvSpPr>
        <p:spPr>
          <a:xfrm>
            <a:off x="1672106" y="1902125"/>
            <a:ext cx="1838899" cy="389806"/>
          </a:xfrm>
          <a:prstGeom prst="rect">
            <a:avLst/>
          </a:prstGeom>
          <a:noFill/>
        </p:spPr>
        <p:txBody>
          <a:bodyPr wrap="square" lIns="81235" tIns="40618" rIns="81235" bIns="40618" rtlCol="0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333333"/>
                </a:solidFill>
                <a:sym typeface="思源黑体 CN Normal" panose="020B0400000000000000" pitchFamily="34" charset="-122"/>
              </a:rPr>
              <a:t>已完成基础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2E722DCE-C565-A5F3-22EA-884C5EF73779}"/>
              </a:ext>
            </a:extLst>
          </p:cNvPr>
          <p:cNvSpPr txBox="1"/>
          <p:nvPr/>
        </p:nvSpPr>
        <p:spPr>
          <a:xfrm>
            <a:off x="1672106" y="2508036"/>
            <a:ext cx="2053178" cy="1836036"/>
          </a:xfrm>
          <a:prstGeom prst="rect">
            <a:avLst/>
          </a:prstGeom>
          <a:noFill/>
        </p:spPr>
        <p:txBody>
          <a:bodyPr wrap="square" lIns="81235" tIns="40618" rIns="81235" bIns="40618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•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已完成 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Web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端基础原型开发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•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已完成 </a:t>
            </a:r>
            <a:r>
              <a:rPr lang="en-US" altLang="zh-CN" sz="1200" dirty="0" err="1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PromptWorkflow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初版设计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•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已完成 </a:t>
            </a: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SQLite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数据持久化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zh-CN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• </a:t>
            </a: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已具备软件开发与项目落地经验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CCC7C2D-1200-82FD-57CA-9AF2B7E23337}"/>
              </a:ext>
            </a:extLst>
          </p:cNvPr>
          <p:cNvGrpSpPr/>
          <p:nvPr/>
        </p:nvGrpSpPr>
        <p:grpSpPr>
          <a:xfrm flipH="1">
            <a:off x="5535014" y="4494726"/>
            <a:ext cx="3337023" cy="2246642"/>
            <a:chOff x="4670236" y="4192143"/>
            <a:chExt cx="3337023" cy="2246642"/>
          </a:xfrm>
        </p:grpSpPr>
        <p:cxnSp>
          <p:nvCxnSpPr>
            <p:cNvPr id="2" name="Straight Connector 25">
              <a:extLst>
                <a:ext uri="{FF2B5EF4-FFF2-40B4-BE49-F238E27FC236}">
                  <a16:creationId xmlns:a16="http://schemas.microsoft.com/office/drawing/2014/main" id="{AEE8D0B2-17F3-FF68-29CC-F9319C4EC510}"/>
                </a:ext>
              </a:extLst>
            </p:cNvPr>
            <p:cNvCxnSpPr/>
            <p:nvPr/>
          </p:nvCxnSpPr>
          <p:spPr>
            <a:xfrm flipH="1">
              <a:off x="4670236" y="5342828"/>
              <a:ext cx="1763516" cy="0"/>
            </a:xfrm>
            <a:prstGeom prst="line">
              <a:avLst/>
            </a:prstGeom>
            <a:ln w="28575">
              <a:solidFill>
                <a:srgbClr val="235C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Arc 21">
              <a:extLst>
                <a:ext uri="{FF2B5EF4-FFF2-40B4-BE49-F238E27FC236}">
                  <a16:creationId xmlns:a16="http://schemas.microsoft.com/office/drawing/2014/main" id="{ECEA95D6-F513-C0FB-F410-8E53948BAD50}"/>
                </a:ext>
              </a:extLst>
            </p:cNvPr>
            <p:cNvSpPr/>
            <p:nvPr/>
          </p:nvSpPr>
          <p:spPr>
            <a:xfrm flipH="1">
              <a:off x="4993499" y="4458102"/>
              <a:ext cx="1769453" cy="1769452"/>
            </a:xfrm>
            <a:prstGeom prst="arc">
              <a:avLst>
                <a:gd name="adj1" fmla="val 16200000"/>
                <a:gd name="adj2" fmla="val 5426856"/>
              </a:avLst>
            </a:prstGeom>
            <a:ln w="28575">
              <a:solidFill>
                <a:srgbClr val="235C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160" dirty="0">
                <a:cs typeface="+mn-ea"/>
                <a:sym typeface="+mn-lt"/>
              </a:endParaRPr>
            </a:p>
          </p:txBody>
        </p:sp>
        <p:sp>
          <p:nvSpPr>
            <p:cNvPr id="28" name="Rounded Rectangle 31">
              <a:extLst>
                <a:ext uri="{FF2B5EF4-FFF2-40B4-BE49-F238E27FC236}">
                  <a16:creationId xmlns:a16="http://schemas.microsoft.com/office/drawing/2014/main" id="{0EB7F327-4F12-CB5B-A0BC-AE4314EB5E75}"/>
                </a:ext>
              </a:extLst>
            </p:cNvPr>
            <p:cNvSpPr/>
            <p:nvPr/>
          </p:nvSpPr>
          <p:spPr>
            <a:xfrm flipH="1">
              <a:off x="5793979" y="4192143"/>
              <a:ext cx="2213280" cy="482480"/>
            </a:xfrm>
            <a:prstGeom prst="roundRect">
              <a:avLst/>
            </a:pr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" b="1" dirty="0">
                <a:cs typeface="+mn-ea"/>
                <a:sym typeface="+mn-lt"/>
              </a:endParaRPr>
            </a:p>
          </p:txBody>
        </p:sp>
        <p:sp>
          <p:nvSpPr>
            <p:cNvPr id="29" name="Rounded Rectangle 32">
              <a:extLst>
                <a:ext uri="{FF2B5EF4-FFF2-40B4-BE49-F238E27FC236}">
                  <a16:creationId xmlns:a16="http://schemas.microsoft.com/office/drawing/2014/main" id="{3E9D36A4-E50A-275F-8EE8-CD74751B5DB9}"/>
                </a:ext>
              </a:extLst>
            </p:cNvPr>
            <p:cNvSpPr/>
            <p:nvPr/>
          </p:nvSpPr>
          <p:spPr>
            <a:xfrm flipH="1">
              <a:off x="5793979" y="5081908"/>
              <a:ext cx="2213280" cy="482480"/>
            </a:xfrm>
            <a:prstGeom prst="roundRect">
              <a:avLst/>
            </a:pr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" dirty="0">
                <a:cs typeface="+mn-ea"/>
                <a:sym typeface="+mn-lt"/>
              </a:endParaRPr>
            </a:p>
          </p:txBody>
        </p:sp>
        <p:sp>
          <p:nvSpPr>
            <p:cNvPr id="30" name="Rounded Rectangle 33">
              <a:extLst>
                <a:ext uri="{FF2B5EF4-FFF2-40B4-BE49-F238E27FC236}">
                  <a16:creationId xmlns:a16="http://schemas.microsoft.com/office/drawing/2014/main" id="{77DD12A6-BD07-4014-726D-1FA8FCB9896E}"/>
                </a:ext>
              </a:extLst>
            </p:cNvPr>
            <p:cNvSpPr/>
            <p:nvPr/>
          </p:nvSpPr>
          <p:spPr>
            <a:xfrm flipH="1">
              <a:off x="5793979" y="5956305"/>
              <a:ext cx="2213280" cy="482480"/>
            </a:xfrm>
            <a:prstGeom prst="roundRect">
              <a:avLst/>
            </a:prstGeom>
            <a:solidFill>
              <a:srgbClr val="235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60" dirty="0">
                <a:cs typeface="+mn-ea"/>
                <a:sym typeface="+mn-lt"/>
              </a:endParaRPr>
            </a:p>
          </p:txBody>
        </p:sp>
        <p:sp>
          <p:nvSpPr>
            <p:cNvPr id="31" name="文本框 44">
              <a:extLst>
                <a:ext uri="{FF2B5EF4-FFF2-40B4-BE49-F238E27FC236}">
                  <a16:creationId xmlns:a16="http://schemas.microsoft.com/office/drawing/2014/main" id="{EBE81B97-3457-596E-1163-0F9B3A157135}"/>
                </a:ext>
              </a:extLst>
            </p:cNvPr>
            <p:cNvSpPr txBox="1"/>
            <p:nvPr/>
          </p:nvSpPr>
          <p:spPr>
            <a:xfrm>
              <a:off x="5770808" y="4253550"/>
              <a:ext cx="21575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移动端</a:t>
              </a:r>
              <a:r>
                <a:rPr lang="en-US" altLang="zh-CN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APP(</a:t>
              </a:r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上线</a:t>
              </a:r>
              <a:r>
                <a:rPr lang="en-US" altLang="zh-CN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)</a:t>
              </a:r>
              <a:endParaRPr lang="zh-CN" altLang="en-US" sz="2000" b="1" dirty="0">
                <a:solidFill>
                  <a:schemeClr val="bg1"/>
                </a:solidFill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文本框 45">
              <a:extLst>
                <a:ext uri="{FF2B5EF4-FFF2-40B4-BE49-F238E27FC236}">
                  <a16:creationId xmlns:a16="http://schemas.microsoft.com/office/drawing/2014/main" id="{660EC6A9-CA5B-E9D2-5644-B3ACFA3AF7E6}"/>
                </a:ext>
              </a:extLst>
            </p:cNvPr>
            <p:cNvSpPr txBox="1"/>
            <p:nvPr/>
          </p:nvSpPr>
          <p:spPr>
            <a:xfrm>
              <a:off x="6099331" y="5138802"/>
              <a:ext cx="1632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软件著作权</a:t>
              </a:r>
            </a:p>
          </p:txBody>
        </p:sp>
        <p:sp>
          <p:nvSpPr>
            <p:cNvPr id="33" name="文本框 46">
              <a:extLst>
                <a:ext uri="{FF2B5EF4-FFF2-40B4-BE49-F238E27FC236}">
                  <a16:creationId xmlns:a16="http://schemas.microsoft.com/office/drawing/2014/main" id="{2F678A27-1F9F-7074-DB07-2A9124C2A140}"/>
                </a:ext>
              </a:extLst>
            </p:cNvPr>
            <p:cNvSpPr txBox="1"/>
            <p:nvPr/>
          </p:nvSpPr>
          <p:spPr>
            <a:xfrm>
              <a:off x="5906224" y="6012671"/>
              <a:ext cx="18257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CN" altLang="en-US" sz="2000" b="1" dirty="0">
                  <a:solidFill>
                    <a:schemeClr val="bg1"/>
                  </a:solidFill>
                  <a:sym typeface="思源黑体 CN Normal" panose="020B0400000000000000" pitchFamily="34" charset="-122"/>
                </a:rPr>
                <a:t>学术技术论文</a:t>
              </a: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556C0105-7DAC-F8EF-FCD3-46194CF7E09B}"/>
              </a:ext>
            </a:extLst>
          </p:cNvPr>
          <p:cNvSpPr/>
          <p:nvPr/>
        </p:nvSpPr>
        <p:spPr>
          <a:xfrm>
            <a:off x="5735960" y="3333774"/>
            <a:ext cx="3006009" cy="324595"/>
          </a:xfrm>
          <a:prstGeom prst="rect">
            <a:avLst/>
          </a:prstGeom>
        </p:spPr>
        <p:txBody>
          <a:bodyPr wrap="square" lIns="75520" tIns="37760" rIns="75520" bIns="37760" anchor="ctr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语音输入交互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320A73C-54B8-C3DC-F27C-3883E65F7CCE}"/>
              </a:ext>
            </a:extLst>
          </p:cNvPr>
          <p:cNvSpPr/>
          <p:nvPr/>
        </p:nvSpPr>
        <p:spPr>
          <a:xfrm>
            <a:off x="9473039" y="3724191"/>
            <a:ext cx="429514" cy="1448392"/>
          </a:xfrm>
          <a:prstGeom prst="rect">
            <a:avLst/>
          </a:prstGeom>
        </p:spPr>
        <p:txBody>
          <a:bodyPr vert="eaVert" wrap="square" lIns="75520" tIns="37760" rIns="75520" bIns="37760" anchor="ctr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时间解析优化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496B84-DF2F-280C-63FF-C76E80341DFE}"/>
              </a:ext>
            </a:extLst>
          </p:cNvPr>
          <p:cNvSpPr/>
          <p:nvPr/>
        </p:nvSpPr>
        <p:spPr>
          <a:xfrm>
            <a:off x="9131648" y="3837830"/>
            <a:ext cx="429514" cy="1448392"/>
          </a:xfrm>
          <a:prstGeom prst="rect">
            <a:avLst/>
          </a:prstGeom>
        </p:spPr>
        <p:txBody>
          <a:bodyPr vert="eaVert" wrap="square" lIns="75520" tIns="37760" rIns="75520" bIns="37760" anchor="ctr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思源黑体 CN Normal" panose="020B0400000000000000" pitchFamily="34" charset="-122"/>
              </a:rPr>
              <a:t>输出稳定性增强</a:t>
            </a:r>
            <a:endParaRPr lang="en-US" altLang="zh-CN" sz="12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006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1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20"/>
                                </p:stCondLst>
                                <p:childTnLst>
                                  <p:par>
                                    <p:cTn id="3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020"/>
                                </p:stCondLst>
                                <p:childTnLst>
                                  <p:par>
                                    <p:cTn id="42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4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5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520"/>
                                </p:stCondLst>
                                <p:childTnLst>
                                  <p:par>
                                    <p:cTn id="4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20"/>
                                </p:stCondLst>
                                <p:childTnLst>
                                  <p:par>
                                    <p:cTn id="54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520"/>
                                </p:stCondLst>
                                <p:childTnLst>
                                  <p:par>
                                    <p:cTn id="5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1" dur="1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6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6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6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6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4920"/>
                                </p:stCondLst>
                                <p:childTnLst>
                                  <p:par>
                                    <p:cTn id="68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5420"/>
                                </p:stCondLst>
                                <p:childTnLst>
                                  <p:par>
                                    <p:cTn id="75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5920"/>
                                </p:stCondLst>
                                <p:childTnLst>
                                  <p:par>
                                    <p:cTn id="8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6420"/>
                                </p:stCondLst>
                                <p:childTnLst>
                                  <p:par>
                                    <p:cTn id="8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692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1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9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9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9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9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7170"/>
                                </p:stCondLst>
                                <p:childTnLst>
                                  <p:par>
                                    <p:cTn id="9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9" dur="1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0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0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10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10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7420"/>
                                </p:stCondLst>
                                <p:childTnLst>
                                  <p:par>
                                    <p:cTn id="10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1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1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1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11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11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utoUpdateAnimBg="0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9" grpId="0"/>
          <p:bldP spid="19" grpId="1"/>
          <p:bldP spid="20" grpId="0" animBg="1"/>
          <p:bldP spid="21" grpId="0" animBg="1"/>
          <p:bldP spid="22" grpId="0"/>
          <p:bldP spid="22" grpId="1"/>
          <p:bldP spid="23" grpId="0" animBg="1"/>
          <p:bldP spid="24" grpId="0" animBg="1"/>
          <p:bldP spid="26" grpId="0"/>
          <p:bldP spid="27" grpId="0"/>
          <p:bldP spid="35" grpId="0"/>
          <p:bldP spid="35" grpId="1"/>
          <p:bldP spid="38" grpId="0"/>
          <p:bldP spid="38" grpId="1"/>
          <p:bldP spid="39" grpId="0"/>
          <p:bldP spid="39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6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520"/>
                                </p:stCondLst>
                                <p:childTnLst>
                                  <p:par>
                                    <p:cTn id="35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37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0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1" fill="hold">
                                <p:stCondLst>
                                  <p:cond delay="3020"/>
                                </p:stCondLst>
                                <p:childTnLst>
                                  <p:par>
                                    <p:cTn id="42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5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3520"/>
                                </p:stCondLst>
                                <p:childTnLst>
                                  <p:par>
                                    <p:cTn id="4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2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3" fill="hold">
                                <p:stCondLst>
                                  <p:cond delay="4020"/>
                                </p:stCondLst>
                                <p:childTnLst>
                                  <p:par>
                                    <p:cTn id="54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7" dur="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4520"/>
                                </p:stCondLst>
                                <p:childTnLst>
                                  <p:par>
                                    <p:cTn id="5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1" dur="1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6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6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6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6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7" fill="hold">
                                <p:stCondLst>
                                  <p:cond delay="4920"/>
                                </p:stCondLst>
                                <p:childTnLst>
                                  <p:par>
                                    <p:cTn id="68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3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5420"/>
                                </p:stCondLst>
                                <p:childTnLst>
                                  <p:par>
                                    <p:cTn id="7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9" fill="hold">
                                <p:stCondLst>
                                  <p:cond delay="5920"/>
                                </p:stCondLst>
                                <p:childTnLst>
                                  <p:par>
                                    <p:cTn id="8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3" fill="hold">
                                <p:stCondLst>
                                  <p:cond delay="6420"/>
                                </p:stCondLst>
                                <p:childTnLst>
                                  <p:par>
                                    <p:cTn id="8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6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7" fill="hold">
                                <p:stCondLst>
                                  <p:cond delay="6920"/>
                                </p:stCondLst>
                                <p:childTnLst>
                                  <p:par>
                                    <p:cTn id="8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0" dur="1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9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9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9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9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6" fill="hold">
                                <p:stCondLst>
                                  <p:cond delay="7170"/>
                                </p:stCondLst>
                                <p:childTnLst>
                                  <p:par>
                                    <p:cTn id="9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9" dur="1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0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0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10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10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5" fill="hold">
                                <p:stCondLst>
                                  <p:cond delay="7420"/>
                                </p:stCondLst>
                                <p:childTnLst>
                                  <p:par>
                                    <p:cTn id="10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8" dur="1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1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1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11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11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utoUpdateAnimBg="0"/>
          <p:bldP spid="9" grpId="0" animBg="1"/>
          <p:bldP spid="10" grpId="0" animBg="1"/>
          <p:bldP spid="11" grpId="0" animBg="1"/>
          <p:bldP spid="12" grpId="0" animBg="1"/>
          <p:bldP spid="13" grpId="0" animBg="1"/>
          <p:bldP spid="14" grpId="0" animBg="1"/>
          <p:bldP spid="15" grpId="0" animBg="1"/>
          <p:bldP spid="16" grpId="0" animBg="1"/>
          <p:bldP spid="17" grpId="0" animBg="1"/>
          <p:bldP spid="19" grpId="0"/>
          <p:bldP spid="19" grpId="1"/>
          <p:bldP spid="20" grpId="0" animBg="1"/>
          <p:bldP spid="21" grpId="0" animBg="1"/>
          <p:bldP spid="22" grpId="0"/>
          <p:bldP spid="22" grpId="1"/>
          <p:bldP spid="23" grpId="0" animBg="1"/>
          <p:bldP spid="24" grpId="0" animBg="1"/>
          <p:bldP spid="26" grpId="0"/>
          <p:bldP spid="27" grpId="0"/>
          <p:bldP spid="35" grpId="0"/>
          <p:bldP spid="35" grpId="1"/>
          <p:bldP spid="38" grpId="0"/>
          <p:bldP spid="38" grpId="1"/>
          <p:bldP spid="39" grpId="0"/>
          <p:bldP spid="39" grpId="1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A48201-0F89-431D-B81A-A551A3F43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6068" y="-2677933"/>
            <a:ext cx="6879865" cy="1219200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313EB8A-BD82-4429-A32B-B64D92C86046}"/>
              </a:ext>
            </a:extLst>
          </p:cNvPr>
          <p:cNvSpPr txBox="1"/>
          <p:nvPr/>
        </p:nvSpPr>
        <p:spPr>
          <a:xfrm>
            <a:off x="3219479" y="2375329"/>
            <a:ext cx="5753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cs"/>
                <a:sym typeface="FZHei-B01S" panose="02010601030101010101" pitchFamily="2" charset="-122"/>
              </a:rPr>
              <a:t>感谢聆听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D0F242-F5F4-444D-8A2B-5046B0D08C38}"/>
              </a:ext>
            </a:extLst>
          </p:cNvPr>
          <p:cNvSpPr txBox="1"/>
          <p:nvPr/>
        </p:nvSpPr>
        <p:spPr>
          <a:xfrm>
            <a:off x="3600490" y="4237438"/>
            <a:ext cx="4629151" cy="662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cs"/>
                <a:sym typeface="FZHei-B01S" panose="02010601030101010101" pitchFamily="2" charset="-122"/>
              </a:rPr>
              <a:t>恳请各位老师批评指正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9312F8E-FE35-474C-8A10-E22C3C01F9AE}"/>
              </a:ext>
            </a:extLst>
          </p:cNvPr>
          <p:cNvSpPr txBox="1"/>
          <p:nvPr/>
        </p:nvSpPr>
        <p:spPr>
          <a:xfrm>
            <a:off x="3219480" y="3501008"/>
            <a:ext cx="5753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Heavy" panose="02020900000000000000" pitchFamily="18" charset="-122"/>
                <a:ea typeface="思源宋体 Heavy" panose="02020900000000000000" pitchFamily="18" charset="-122"/>
                <a:cs typeface="+mn-cs"/>
                <a:sym typeface="FZHei-B01S" panose="02010601030101010101" pitchFamily="2" charset="-122"/>
              </a:rPr>
              <a:t>Q&amp;A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F1D7A5-5B9D-48A5-B487-16926D10859D}"/>
              </a:ext>
            </a:extLst>
          </p:cNvPr>
          <p:cNvSpPr txBox="1"/>
          <p:nvPr/>
        </p:nvSpPr>
        <p:spPr>
          <a:xfrm>
            <a:off x="4485041" y="5162238"/>
            <a:ext cx="322191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1600" dirty="0">
                <a:solidFill>
                  <a:srgbClr val="235C86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THANKS FOR LISTENING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35C86"/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02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split orient="vert"/>
      </p:transition>
    </mc:Choice>
    <mc:Fallback xmlns=""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135;#400127;#40012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2483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1771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2">
      <a:majorFont>
        <a:latin typeface="思源黑体 CN Medium"/>
        <a:ea typeface="思源黑体 CN Medium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926</Words>
  <Application>Microsoft Office PowerPoint</Application>
  <PresentationFormat>宽屏</PresentationFormat>
  <Paragraphs>226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Noto Sans SC</vt:lpstr>
      <vt:lpstr>ui-sans-serif</vt:lpstr>
      <vt:lpstr>等线</vt:lpstr>
      <vt:lpstr>黑体</vt:lpstr>
      <vt:lpstr>华文隶书</vt:lpstr>
      <vt:lpstr>思源黑体 CN Medium</vt:lpstr>
      <vt:lpstr>思源黑体 CN Normal</vt:lpstr>
      <vt:lpstr>思源宋体 Heavy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quan sun</cp:lastModifiedBy>
  <cp:revision>148</cp:revision>
  <dcterms:created xsi:type="dcterms:W3CDTF">2021-03-07T14:54:21Z</dcterms:created>
  <dcterms:modified xsi:type="dcterms:W3CDTF">2026-05-28T13:08:22Z</dcterms:modified>
</cp:coreProperties>
</file>